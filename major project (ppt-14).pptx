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Lst>
  <p:sldSz cx="12192000" cy="6858000"/>
  <p:notesSz cx="12192000" cy="68580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70" d="100"/>
          <a:sy n="70" d="100"/>
        </p:scale>
        <p:origin x="96" y="72"/>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4181094" y="680085"/>
            <a:ext cx="2549525" cy="452119"/>
          </a:xfrm>
          <a:prstGeom prst="rect">
            <a:avLst/>
          </a:prstGeom>
        </p:spPr>
        <p:txBody>
          <a:bodyPr wrap="square" lIns="0" tIns="0" rIns="0" bIns="0">
            <a:spAutoFit/>
          </a:bodyPr>
          <a:lstStyle>
            <a:lvl1pPr>
              <a:defRPr sz="3200" b="1" i="0">
                <a:solidFill>
                  <a:srgbClr val="355070"/>
                </a:solidFill>
                <a:latin typeface="Times New Roman"/>
                <a:cs typeface="Times New Roman"/>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sz="2400" b="0" i="0">
                <a:solidFill>
                  <a:schemeClr val="tx1"/>
                </a:solidFill>
                <a:latin typeface="Times New Roman"/>
                <a:cs typeface="Times New Roman"/>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10/17/2025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200" b="1" i="0">
                <a:solidFill>
                  <a:srgbClr val="355070"/>
                </a:solidFill>
                <a:latin typeface="Times New Roman"/>
                <a:cs typeface="Times New Roman"/>
              </a:defRPr>
            </a:lvl1pPr>
          </a:lstStyle>
          <a:p>
            <a:endParaRPr/>
          </a:p>
        </p:txBody>
      </p:sp>
      <p:sp>
        <p:nvSpPr>
          <p:cNvPr id="3" name="Holder 3"/>
          <p:cNvSpPr>
            <a:spLocks noGrp="1"/>
          </p:cNvSpPr>
          <p:nvPr>
            <p:ph type="body" idx="1"/>
          </p:nvPr>
        </p:nvSpPr>
        <p:spPr/>
        <p:txBody>
          <a:bodyPr lIns="0" tIns="0" rIns="0" bIns="0"/>
          <a:lstStyle>
            <a:lvl1pPr>
              <a:defRPr sz="2400" b="0" i="0">
                <a:solidFill>
                  <a:schemeClr val="tx1"/>
                </a:solidFill>
                <a:latin typeface="Times New Roman"/>
                <a:cs typeface="Times New Roman"/>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10/17/2025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200" b="1" i="0">
                <a:solidFill>
                  <a:srgbClr val="355070"/>
                </a:solidFill>
                <a:latin typeface="Times New Roman"/>
                <a:cs typeface="Times New Roman"/>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10/17/2025</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200" b="1" i="0">
                <a:solidFill>
                  <a:srgbClr val="355070"/>
                </a:solidFill>
                <a:latin typeface="Times New Roman"/>
                <a:cs typeface="Times New Roman"/>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10/17/2025</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10/17/2025</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7" cstate="print"/>
          <a:stretch>
            <a:fillRect/>
          </a:stretch>
        </p:blipFill>
        <p:spPr>
          <a:xfrm>
            <a:off x="0" y="0"/>
            <a:ext cx="12192000" cy="6858000"/>
          </a:xfrm>
          <a:prstGeom prst="rect">
            <a:avLst/>
          </a:prstGeom>
        </p:spPr>
      </p:pic>
      <p:sp>
        <p:nvSpPr>
          <p:cNvPr id="2" name="Holder 2"/>
          <p:cNvSpPr>
            <a:spLocks noGrp="1"/>
          </p:cNvSpPr>
          <p:nvPr>
            <p:ph type="title"/>
          </p:nvPr>
        </p:nvSpPr>
        <p:spPr>
          <a:xfrm>
            <a:off x="971499" y="299465"/>
            <a:ext cx="10249001" cy="513715"/>
          </a:xfrm>
          <a:prstGeom prst="rect">
            <a:avLst/>
          </a:prstGeom>
        </p:spPr>
        <p:txBody>
          <a:bodyPr wrap="square" lIns="0" tIns="0" rIns="0" bIns="0">
            <a:spAutoFit/>
          </a:bodyPr>
          <a:lstStyle>
            <a:lvl1pPr>
              <a:defRPr sz="3200" b="1" i="0">
                <a:solidFill>
                  <a:srgbClr val="355070"/>
                </a:solidFill>
                <a:latin typeface="Times New Roman"/>
                <a:cs typeface="Times New Roman"/>
              </a:defRPr>
            </a:lvl1pPr>
          </a:lstStyle>
          <a:p>
            <a:endParaRPr/>
          </a:p>
        </p:txBody>
      </p:sp>
      <p:sp>
        <p:nvSpPr>
          <p:cNvPr id="3" name="Holder 3"/>
          <p:cNvSpPr>
            <a:spLocks noGrp="1"/>
          </p:cNvSpPr>
          <p:nvPr>
            <p:ph type="body" idx="1"/>
          </p:nvPr>
        </p:nvSpPr>
        <p:spPr>
          <a:xfrm>
            <a:off x="699312" y="1120902"/>
            <a:ext cx="6779895" cy="3317875"/>
          </a:xfrm>
          <a:prstGeom prst="rect">
            <a:avLst/>
          </a:prstGeom>
        </p:spPr>
        <p:txBody>
          <a:bodyPr wrap="square" lIns="0" tIns="0" rIns="0" bIns="0">
            <a:spAutoFit/>
          </a:bodyPr>
          <a:lstStyle>
            <a:lvl1pPr>
              <a:defRPr sz="2400" b="0" i="0">
                <a:solidFill>
                  <a:schemeClr val="tx1"/>
                </a:solidFill>
                <a:latin typeface="Times New Roman"/>
                <a:cs typeface="Times New Roman"/>
              </a:defRPr>
            </a:lvl1pPr>
          </a:lstStyle>
          <a:p>
            <a:endParaRPr/>
          </a:p>
        </p:txBody>
      </p:sp>
      <p:sp>
        <p:nvSpPr>
          <p:cNvPr id="4" name="Holder 4"/>
          <p:cNvSpPr>
            <a:spLocks noGrp="1"/>
          </p:cNvSpPr>
          <p:nvPr>
            <p:ph type="ftr" sz="quarter" idx="5"/>
          </p:nvPr>
        </p:nvSpPr>
        <p:spPr>
          <a:xfrm>
            <a:off x="4145280" y="6377940"/>
            <a:ext cx="3901440" cy="3429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10/17/2025</a:t>
            </a:fld>
            <a:endParaRPr lang="en-US"/>
          </a:p>
        </p:txBody>
      </p:sp>
      <p:sp>
        <p:nvSpPr>
          <p:cNvPr id="6" name="Holder 6"/>
          <p:cNvSpPr>
            <a:spLocks noGrp="1"/>
          </p:cNvSpPr>
          <p:nvPr>
            <p:ph type="sldNum" sz="quarter" idx="7"/>
          </p:nvPr>
        </p:nvSpPr>
        <p:spPr>
          <a:xfrm>
            <a:off x="8778240" y="6377940"/>
            <a:ext cx="280416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object 4"/>
          <p:cNvSpPr txBox="1">
            <a:spLocks noGrp="1"/>
          </p:cNvSpPr>
          <p:nvPr>
            <p:ph type="title"/>
          </p:nvPr>
        </p:nvSpPr>
        <p:spPr>
          <a:xfrm>
            <a:off x="244474" y="476540"/>
            <a:ext cx="11490326" cy="443070"/>
          </a:xfrm>
          <a:prstGeom prst="rect">
            <a:avLst/>
          </a:prstGeom>
        </p:spPr>
        <p:txBody>
          <a:bodyPr vert="horz" wrap="square" lIns="0" tIns="12065" rIns="0" bIns="0" rtlCol="0">
            <a:spAutoFit/>
          </a:bodyPr>
          <a:lstStyle/>
          <a:p>
            <a:pPr marL="12700">
              <a:lnSpc>
                <a:spcPct val="100000"/>
              </a:lnSpc>
              <a:spcBef>
                <a:spcPts val="95"/>
              </a:spcBef>
              <a:tabLst>
                <a:tab pos="5114290" algn="l"/>
              </a:tabLst>
            </a:pPr>
            <a:endParaRPr sz="2800" dirty="0"/>
          </a:p>
        </p:txBody>
      </p:sp>
      <p:sp>
        <p:nvSpPr>
          <p:cNvPr id="5" name="object 5"/>
          <p:cNvSpPr txBox="1"/>
          <p:nvPr/>
        </p:nvSpPr>
        <p:spPr>
          <a:xfrm>
            <a:off x="3284220" y="2560867"/>
            <a:ext cx="6990080" cy="393700"/>
          </a:xfrm>
          <a:prstGeom prst="rect">
            <a:avLst/>
          </a:prstGeom>
        </p:spPr>
        <p:txBody>
          <a:bodyPr vert="horz" wrap="square" lIns="0" tIns="0" rIns="0" bIns="0" rtlCol="0">
            <a:spAutoFit/>
          </a:bodyPr>
          <a:lstStyle/>
          <a:p>
            <a:pPr>
              <a:lnSpc>
                <a:spcPts val="3055"/>
              </a:lnSpc>
            </a:pPr>
            <a:r>
              <a:rPr sz="2800" b="1" spc="-20" dirty="0">
                <a:solidFill>
                  <a:srgbClr val="01111A"/>
                </a:solidFill>
                <a:latin typeface="Times New Roman"/>
                <a:cs typeface="Times New Roman"/>
              </a:rPr>
              <a:t>SMART</a:t>
            </a:r>
            <a:r>
              <a:rPr sz="2800" b="1" spc="-145" dirty="0">
                <a:solidFill>
                  <a:srgbClr val="01111A"/>
                </a:solidFill>
                <a:latin typeface="Times New Roman"/>
                <a:cs typeface="Times New Roman"/>
              </a:rPr>
              <a:t> </a:t>
            </a:r>
            <a:r>
              <a:rPr sz="2800" b="1" spc="-20" dirty="0">
                <a:solidFill>
                  <a:srgbClr val="01111A"/>
                </a:solidFill>
                <a:latin typeface="Times New Roman"/>
                <a:cs typeface="Times New Roman"/>
              </a:rPr>
              <a:t>PARKING</a:t>
            </a:r>
            <a:r>
              <a:rPr sz="2800" b="1" spc="-90" dirty="0">
                <a:solidFill>
                  <a:srgbClr val="01111A"/>
                </a:solidFill>
                <a:latin typeface="Times New Roman"/>
                <a:cs typeface="Times New Roman"/>
              </a:rPr>
              <a:t> </a:t>
            </a:r>
            <a:r>
              <a:rPr sz="2800" b="1" spc="-10" dirty="0">
                <a:solidFill>
                  <a:srgbClr val="01111A"/>
                </a:solidFill>
                <a:latin typeface="Times New Roman"/>
                <a:cs typeface="Times New Roman"/>
              </a:rPr>
              <a:t>MANAGEMENT</a:t>
            </a:r>
            <a:r>
              <a:rPr sz="2800" b="1" spc="-135" dirty="0">
                <a:solidFill>
                  <a:srgbClr val="01111A"/>
                </a:solidFill>
                <a:latin typeface="Times New Roman"/>
                <a:cs typeface="Times New Roman"/>
              </a:rPr>
              <a:t> </a:t>
            </a:r>
            <a:r>
              <a:rPr sz="2800" b="1" spc="-10" dirty="0">
                <a:solidFill>
                  <a:srgbClr val="01111A"/>
                </a:solidFill>
                <a:latin typeface="Times New Roman"/>
                <a:cs typeface="Times New Roman"/>
              </a:rPr>
              <a:t>SYSTE</a:t>
            </a:r>
            <a:endParaRPr sz="2800">
              <a:latin typeface="Times New Roman"/>
              <a:cs typeface="Times New Roman"/>
            </a:endParaRPr>
          </a:p>
        </p:txBody>
      </p:sp>
      <p:sp>
        <p:nvSpPr>
          <p:cNvPr id="6" name="object 6"/>
          <p:cNvSpPr txBox="1"/>
          <p:nvPr/>
        </p:nvSpPr>
        <p:spPr>
          <a:xfrm>
            <a:off x="5544565" y="2988239"/>
            <a:ext cx="2891790" cy="393700"/>
          </a:xfrm>
          <a:prstGeom prst="rect">
            <a:avLst/>
          </a:prstGeom>
        </p:spPr>
        <p:txBody>
          <a:bodyPr vert="horz" wrap="square" lIns="0" tIns="0" rIns="0" bIns="0" rtlCol="0">
            <a:spAutoFit/>
          </a:bodyPr>
          <a:lstStyle/>
          <a:p>
            <a:pPr>
              <a:lnSpc>
                <a:spcPts val="3050"/>
              </a:lnSpc>
            </a:pPr>
            <a:r>
              <a:rPr sz="2800" b="1" spc="-20" dirty="0">
                <a:solidFill>
                  <a:srgbClr val="01111A"/>
                </a:solidFill>
                <a:latin typeface="Times New Roman"/>
                <a:cs typeface="Times New Roman"/>
              </a:rPr>
              <a:t>USING</a:t>
            </a:r>
            <a:r>
              <a:rPr sz="2800" b="1" spc="-130" dirty="0">
                <a:solidFill>
                  <a:srgbClr val="01111A"/>
                </a:solidFill>
                <a:latin typeface="Times New Roman"/>
                <a:cs typeface="Times New Roman"/>
              </a:rPr>
              <a:t> </a:t>
            </a:r>
            <a:r>
              <a:rPr sz="2800" b="1" spc="-10" dirty="0">
                <a:solidFill>
                  <a:srgbClr val="01111A"/>
                </a:solidFill>
                <a:latin typeface="Times New Roman"/>
                <a:cs typeface="Times New Roman"/>
              </a:rPr>
              <a:t>ARDUINO</a:t>
            </a:r>
            <a:endParaRPr sz="2800">
              <a:latin typeface="Times New Roman"/>
              <a:cs typeface="Times New Roman"/>
            </a:endParaRPr>
          </a:p>
        </p:txBody>
      </p:sp>
      <p:sp>
        <p:nvSpPr>
          <p:cNvPr id="8" name="object 8"/>
          <p:cNvSpPr txBox="1"/>
          <p:nvPr/>
        </p:nvSpPr>
        <p:spPr>
          <a:xfrm>
            <a:off x="4416805" y="4734637"/>
            <a:ext cx="1831595" cy="333425"/>
          </a:xfrm>
          <a:prstGeom prst="rect">
            <a:avLst/>
          </a:prstGeom>
        </p:spPr>
        <p:txBody>
          <a:bodyPr vert="horz" wrap="square" lIns="0" tIns="0" rIns="0" bIns="0" rtlCol="0">
            <a:spAutoFit/>
          </a:bodyPr>
          <a:lstStyle/>
          <a:p>
            <a:pPr>
              <a:lnSpc>
                <a:spcPts val="2620"/>
              </a:lnSpc>
            </a:pPr>
            <a:r>
              <a:rPr sz="2400" b="1" spc="-10" dirty="0">
                <a:latin typeface="Times New Roman"/>
                <a:cs typeface="Times New Roman"/>
              </a:rPr>
              <a:t>-</a:t>
            </a:r>
            <a:r>
              <a:rPr sz="2400" b="1" spc="-10" dirty="0" smtClean="0">
                <a:latin typeface="Times New Roman"/>
                <a:cs typeface="Times New Roman"/>
              </a:rPr>
              <a:t>2</a:t>
            </a:r>
            <a:r>
              <a:rPr lang="en-US" sz="2400" b="1" spc="-10" dirty="0" smtClean="0">
                <a:latin typeface="Times New Roman"/>
                <a:cs typeface="Times New Roman"/>
              </a:rPr>
              <a:t>2</a:t>
            </a:r>
            <a:r>
              <a:rPr sz="2400" b="1" spc="-10" dirty="0" smtClean="0">
                <a:latin typeface="Times New Roman"/>
                <a:cs typeface="Times New Roman"/>
              </a:rPr>
              <a:t>681A04</a:t>
            </a:r>
            <a:r>
              <a:rPr lang="en-US" sz="2400" b="1" spc="-10" dirty="0" smtClean="0">
                <a:latin typeface="Times New Roman"/>
                <a:cs typeface="Times New Roman"/>
              </a:rPr>
              <a:t>38</a:t>
            </a:r>
            <a:endParaRPr sz="2400" dirty="0">
              <a:latin typeface="Times New Roman"/>
              <a:cs typeface="Times New Roman"/>
            </a:endParaRPr>
          </a:p>
        </p:txBody>
      </p:sp>
      <p:sp>
        <p:nvSpPr>
          <p:cNvPr id="9" name="object 9"/>
          <p:cNvSpPr txBox="1"/>
          <p:nvPr/>
        </p:nvSpPr>
        <p:spPr>
          <a:xfrm>
            <a:off x="4380229" y="5068062"/>
            <a:ext cx="1868171" cy="333425"/>
          </a:xfrm>
          <a:prstGeom prst="rect">
            <a:avLst/>
          </a:prstGeom>
        </p:spPr>
        <p:txBody>
          <a:bodyPr vert="horz" wrap="square" lIns="0" tIns="0" rIns="0" bIns="0" rtlCol="0">
            <a:spAutoFit/>
          </a:bodyPr>
          <a:lstStyle/>
          <a:p>
            <a:pPr>
              <a:lnSpc>
                <a:spcPts val="2620"/>
              </a:lnSpc>
            </a:pPr>
            <a:r>
              <a:rPr sz="2400" b="1" spc="-10" dirty="0">
                <a:latin typeface="Times New Roman"/>
                <a:cs typeface="Times New Roman"/>
              </a:rPr>
              <a:t>-</a:t>
            </a:r>
            <a:r>
              <a:rPr sz="2400" b="1" spc="-10" dirty="0" smtClean="0">
                <a:latin typeface="Times New Roman"/>
                <a:cs typeface="Times New Roman"/>
              </a:rPr>
              <a:t>2</a:t>
            </a:r>
            <a:r>
              <a:rPr lang="en-US" sz="2400" b="1" spc="-10" dirty="0" smtClean="0">
                <a:latin typeface="Times New Roman"/>
                <a:cs typeface="Times New Roman"/>
              </a:rPr>
              <a:t>3</a:t>
            </a:r>
            <a:r>
              <a:rPr sz="2400" b="1" spc="-10" dirty="0" smtClean="0">
                <a:latin typeface="Times New Roman"/>
                <a:cs typeface="Times New Roman"/>
              </a:rPr>
              <a:t>68</a:t>
            </a:r>
            <a:r>
              <a:rPr lang="en-US" sz="2400" b="1" spc="-10" dirty="0" smtClean="0">
                <a:latin typeface="Times New Roman"/>
                <a:cs typeface="Times New Roman"/>
              </a:rPr>
              <a:t>5</a:t>
            </a:r>
            <a:r>
              <a:rPr sz="2400" b="1" spc="-10" dirty="0" smtClean="0">
                <a:latin typeface="Times New Roman"/>
                <a:cs typeface="Times New Roman"/>
              </a:rPr>
              <a:t>A04</a:t>
            </a:r>
            <a:r>
              <a:rPr lang="en-US" sz="2400" b="1" spc="-10" dirty="0" smtClean="0">
                <a:latin typeface="Times New Roman"/>
                <a:cs typeface="Times New Roman"/>
              </a:rPr>
              <a:t>14</a:t>
            </a:r>
            <a:endParaRPr sz="2400" dirty="0">
              <a:latin typeface="Times New Roman"/>
              <a:cs typeface="Times New Roman"/>
            </a:endParaRPr>
          </a:p>
        </p:txBody>
      </p:sp>
      <p:sp>
        <p:nvSpPr>
          <p:cNvPr id="11" name="object 11"/>
          <p:cNvSpPr txBox="1"/>
          <p:nvPr/>
        </p:nvSpPr>
        <p:spPr>
          <a:xfrm>
            <a:off x="4381753" y="5488557"/>
            <a:ext cx="2019047" cy="333425"/>
          </a:xfrm>
          <a:prstGeom prst="rect">
            <a:avLst/>
          </a:prstGeom>
        </p:spPr>
        <p:txBody>
          <a:bodyPr vert="horz" wrap="square" lIns="0" tIns="0" rIns="0" bIns="0" rtlCol="0">
            <a:spAutoFit/>
          </a:bodyPr>
          <a:lstStyle/>
          <a:p>
            <a:pPr>
              <a:lnSpc>
                <a:spcPts val="2620"/>
              </a:lnSpc>
            </a:pPr>
            <a:r>
              <a:rPr sz="2400" b="1" spc="-10" dirty="0">
                <a:latin typeface="Times New Roman"/>
                <a:cs typeface="Times New Roman"/>
              </a:rPr>
              <a:t>-</a:t>
            </a:r>
            <a:r>
              <a:rPr sz="2400" b="1" spc="-10" dirty="0" smtClean="0">
                <a:latin typeface="Times New Roman"/>
                <a:cs typeface="Times New Roman"/>
              </a:rPr>
              <a:t>2268</a:t>
            </a:r>
            <a:r>
              <a:rPr lang="en-US" sz="2400" b="1" spc="-10" dirty="0" smtClean="0">
                <a:latin typeface="Times New Roman"/>
                <a:cs typeface="Times New Roman"/>
              </a:rPr>
              <a:t>1</a:t>
            </a:r>
            <a:r>
              <a:rPr sz="2400" b="1" spc="-10" dirty="0" smtClean="0">
                <a:latin typeface="Times New Roman"/>
                <a:cs typeface="Times New Roman"/>
              </a:rPr>
              <a:t>A04</a:t>
            </a:r>
            <a:r>
              <a:rPr lang="en-US" sz="2400" b="1" spc="-10" dirty="0" smtClean="0">
                <a:latin typeface="Times New Roman"/>
                <a:cs typeface="Times New Roman"/>
              </a:rPr>
              <a:t>34</a:t>
            </a:r>
            <a:endParaRPr sz="2400" dirty="0">
              <a:latin typeface="Times New Roman"/>
              <a:cs typeface="Times New Roman"/>
            </a:endParaRPr>
          </a:p>
        </p:txBody>
      </p:sp>
      <p:sp>
        <p:nvSpPr>
          <p:cNvPr id="13" name="object 13"/>
          <p:cNvSpPr txBox="1"/>
          <p:nvPr/>
        </p:nvSpPr>
        <p:spPr>
          <a:xfrm>
            <a:off x="4421378" y="5821983"/>
            <a:ext cx="1827022" cy="338456"/>
          </a:xfrm>
          <a:prstGeom prst="rect">
            <a:avLst/>
          </a:prstGeom>
        </p:spPr>
        <p:txBody>
          <a:bodyPr vert="horz" wrap="square" lIns="0" tIns="0" rIns="0" bIns="0" rtlCol="0">
            <a:spAutoFit/>
          </a:bodyPr>
          <a:lstStyle/>
          <a:p>
            <a:pPr>
              <a:lnSpc>
                <a:spcPts val="2620"/>
              </a:lnSpc>
            </a:pPr>
            <a:r>
              <a:rPr sz="2400" b="1" dirty="0" smtClean="0">
                <a:latin typeface="Times New Roman"/>
                <a:cs typeface="Times New Roman"/>
              </a:rPr>
              <a:t>-</a:t>
            </a:r>
            <a:r>
              <a:rPr lang="en-US" sz="2400" b="1" dirty="0" smtClean="0">
                <a:latin typeface="Times New Roman"/>
                <a:cs typeface="Times New Roman"/>
              </a:rPr>
              <a:t>23685A0413</a:t>
            </a:r>
            <a:endParaRPr sz="2400" dirty="0">
              <a:latin typeface="Times New Roman"/>
              <a:cs typeface="Times New Roman"/>
            </a:endParaRPr>
          </a:p>
        </p:txBody>
      </p:sp>
      <p:grpSp>
        <p:nvGrpSpPr>
          <p:cNvPr id="25" name="object 25"/>
          <p:cNvGrpSpPr/>
          <p:nvPr/>
        </p:nvGrpSpPr>
        <p:grpSpPr>
          <a:xfrm>
            <a:off x="3284268" y="2480510"/>
            <a:ext cx="7256145" cy="912785"/>
            <a:chOff x="3284268" y="2557635"/>
            <a:chExt cx="7256145" cy="835660"/>
          </a:xfrm>
        </p:grpSpPr>
        <p:pic>
          <p:nvPicPr>
            <p:cNvPr id="26" name="object 26"/>
            <p:cNvPicPr/>
            <p:nvPr/>
          </p:nvPicPr>
          <p:blipFill>
            <a:blip r:embed="rId2" cstate="print"/>
            <a:stretch>
              <a:fillRect/>
            </a:stretch>
          </p:blipFill>
          <p:spPr>
            <a:xfrm>
              <a:off x="5544589" y="2985017"/>
              <a:ext cx="2868395" cy="407888"/>
            </a:xfrm>
            <a:prstGeom prst="rect">
              <a:avLst/>
            </a:prstGeom>
          </p:spPr>
        </p:pic>
        <p:pic>
          <p:nvPicPr>
            <p:cNvPr id="27" name="object 27"/>
            <p:cNvPicPr/>
            <p:nvPr/>
          </p:nvPicPr>
          <p:blipFill>
            <a:blip r:embed="rId3" cstate="print"/>
            <a:stretch>
              <a:fillRect/>
            </a:stretch>
          </p:blipFill>
          <p:spPr>
            <a:xfrm>
              <a:off x="3284268" y="2557635"/>
              <a:ext cx="7255780" cy="408221"/>
            </a:xfrm>
            <a:prstGeom prst="rect">
              <a:avLst/>
            </a:prstGeom>
          </p:spPr>
        </p:pic>
      </p:grpSp>
      <p:sp>
        <p:nvSpPr>
          <p:cNvPr id="30" name="object 30"/>
          <p:cNvSpPr txBox="1"/>
          <p:nvPr/>
        </p:nvSpPr>
        <p:spPr>
          <a:xfrm>
            <a:off x="1248539" y="4673063"/>
            <a:ext cx="2332861" cy="1502846"/>
          </a:xfrm>
          <a:prstGeom prst="rect">
            <a:avLst/>
          </a:prstGeom>
        </p:spPr>
        <p:txBody>
          <a:bodyPr vert="horz" wrap="square" lIns="0" tIns="14604" rIns="0" bIns="0" rtlCol="0">
            <a:spAutoFit/>
          </a:bodyPr>
          <a:lstStyle/>
          <a:p>
            <a:pPr marL="12700" marR="5080">
              <a:lnSpc>
                <a:spcPct val="99400"/>
              </a:lnSpc>
              <a:spcBef>
                <a:spcPts val="114"/>
              </a:spcBef>
            </a:pPr>
            <a:r>
              <a:rPr lang="en-US" sz="2400" spc="55" dirty="0">
                <a:latin typeface="Tahoma"/>
                <a:cs typeface="Tahoma"/>
              </a:rPr>
              <a:t>M.SHIVALEELA</a:t>
            </a:r>
          </a:p>
          <a:p>
            <a:pPr marL="12700" marR="5080">
              <a:lnSpc>
                <a:spcPct val="99400"/>
              </a:lnSpc>
              <a:spcBef>
                <a:spcPts val="114"/>
              </a:spcBef>
            </a:pPr>
            <a:r>
              <a:rPr lang="en-US" sz="2400" spc="55" dirty="0">
                <a:latin typeface="Tahoma"/>
                <a:cs typeface="Tahoma"/>
              </a:rPr>
              <a:t>T.PRIYANKA</a:t>
            </a:r>
          </a:p>
          <a:p>
            <a:pPr marL="12700" marR="5080">
              <a:lnSpc>
                <a:spcPct val="99400"/>
              </a:lnSpc>
              <a:spcBef>
                <a:spcPts val="114"/>
              </a:spcBef>
            </a:pPr>
            <a:r>
              <a:rPr sz="2400" spc="55" dirty="0">
                <a:latin typeface="Tahoma"/>
                <a:cs typeface="Tahoma"/>
              </a:rPr>
              <a:t>L.PRAVEEN </a:t>
            </a:r>
            <a:r>
              <a:rPr sz="2400" spc="40" dirty="0">
                <a:latin typeface="Tahoma"/>
                <a:cs typeface="Tahoma"/>
              </a:rPr>
              <a:t>S.SANJAY</a:t>
            </a:r>
            <a:endParaRPr sz="2400" dirty="0">
              <a:latin typeface="Tahoma"/>
              <a:cs typeface="Tahoma"/>
            </a:endParaRPr>
          </a:p>
        </p:txBody>
      </p:sp>
      <p:pic>
        <p:nvPicPr>
          <p:cNvPr id="34" name="Picture 4" descr="Best Engineering College in Jangaon, Telangana | cjits">
            <a:extLst>
              <a:ext uri="{FF2B5EF4-FFF2-40B4-BE49-F238E27FC236}">
                <a16:creationId xmlns:a16="http://schemas.microsoft.com/office/drawing/2014/main" xmlns="" id="{74803D3B-8802-EE88-03A2-46C709E88A2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93800" y="854911"/>
            <a:ext cx="8636000" cy="1625599"/>
          </a:xfrm>
          <a:prstGeom prst="rect">
            <a:avLst/>
          </a:prstGeom>
          <a:noFill/>
          <a:extLst>
            <a:ext uri="{909E8E84-426E-40DD-AFC4-6F175D3DCCD1}">
              <a14:hiddenFill xmlns:a14="http://schemas.microsoft.com/office/drawing/2010/main">
                <a:solidFill>
                  <a:srgbClr val="FFFFFF"/>
                </a:solidFill>
              </a14:hiddenFill>
            </a:ext>
          </a:extLst>
        </p:spPr>
      </p:pic>
      <p:sp>
        <p:nvSpPr>
          <p:cNvPr id="37" name="TextBox 36">
            <a:extLst>
              <a:ext uri="{FF2B5EF4-FFF2-40B4-BE49-F238E27FC236}">
                <a16:creationId xmlns:a16="http://schemas.microsoft.com/office/drawing/2014/main" xmlns="" id="{02FE7A6A-7DBE-BCF3-BE48-20C220967CA5}"/>
              </a:ext>
            </a:extLst>
          </p:cNvPr>
          <p:cNvSpPr txBox="1"/>
          <p:nvPr/>
        </p:nvSpPr>
        <p:spPr>
          <a:xfrm>
            <a:off x="2209800" y="2642458"/>
            <a:ext cx="8991600" cy="369332"/>
          </a:xfrm>
          <a:prstGeom prst="rect">
            <a:avLst/>
          </a:prstGeom>
          <a:noFill/>
        </p:spPr>
        <p:txBody>
          <a:bodyPr wrap="square">
            <a:spAutoFit/>
          </a:bodyPr>
          <a:lstStyle/>
          <a:p>
            <a:r>
              <a:rPr lang="en-US" dirty="0">
                <a:solidFill>
                  <a:schemeClr val="accent1">
                    <a:lumMod val="60000"/>
                    <a:lumOff val="40000"/>
                  </a:schemeClr>
                </a:solidFill>
              </a:rPr>
              <a:t>   </a:t>
            </a:r>
            <a:r>
              <a:rPr lang="en-US" dirty="0">
                <a:solidFill>
                  <a:schemeClr val="accent1">
                    <a:lumMod val="50000"/>
                  </a:schemeClr>
                </a:solidFill>
              </a:rPr>
              <a:t>DEPARTMENT OF ELECTRONICS AND COMMUNICATION ENGINEERING</a:t>
            </a:r>
          </a:p>
        </p:txBody>
      </p:sp>
      <p:sp>
        <p:nvSpPr>
          <p:cNvPr id="39" name="TextBox 38">
            <a:extLst>
              <a:ext uri="{FF2B5EF4-FFF2-40B4-BE49-F238E27FC236}">
                <a16:creationId xmlns:a16="http://schemas.microsoft.com/office/drawing/2014/main" xmlns="" id="{9FCB72E8-5646-91B0-0CC7-4D44BE2F55A7}"/>
              </a:ext>
            </a:extLst>
          </p:cNvPr>
          <p:cNvSpPr txBox="1"/>
          <p:nvPr/>
        </p:nvSpPr>
        <p:spPr>
          <a:xfrm>
            <a:off x="2971800" y="3004257"/>
            <a:ext cx="8229600" cy="1200329"/>
          </a:xfrm>
          <a:prstGeom prst="rect">
            <a:avLst/>
          </a:prstGeom>
          <a:noFill/>
        </p:spPr>
        <p:txBody>
          <a:bodyPr wrap="square">
            <a:spAutoFit/>
          </a:bodyPr>
          <a:lstStyle/>
          <a:p>
            <a:r>
              <a:rPr lang="en-US" sz="1600" dirty="0">
                <a:solidFill>
                  <a:schemeClr val="accent1">
                    <a:lumMod val="60000"/>
                    <a:lumOff val="40000"/>
                  </a:schemeClr>
                </a:solidFill>
              </a:rPr>
              <a:t>                   </a:t>
            </a:r>
            <a:r>
              <a:rPr lang="en-US" sz="1600" dirty="0">
                <a:solidFill>
                  <a:srgbClr val="FF0000"/>
                </a:solidFill>
              </a:rPr>
              <a:t>A MAJOR PROJECT PRESENTATION</a:t>
            </a:r>
            <a:br>
              <a:rPr lang="en-US" sz="1600" dirty="0">
                <a:solidFill>
                  <a:srgbClr val="FF0000"/>
                </a:solidFill>
              </a:rPr>
            </a:br>
            <a:r>
              <a:rPr lang="en-US" sz="1800" dirty="0">
                <a:solidFill>
                  <a:srgbClr val="FF0000"/>
                </a:solidFill>
              </a:rPr>
              <a:t>                                        </a:t>
            </a:r>
            <a:r>
              <a:rPr lang="en-US" sz="1800" dirty="0" smtClean="0">
                <a:solidFill>
                  <a:srgbClr val="FF0000"/>
                </a:solidFill>
              </a:rPr>
              <a:t>  </a:t>
            </a:r>
            <a:r>
              <a:rPr lang="en-US" dirty="0" smtClean="0">
                <a:solidFill>
                  <a:schemeClr val="bg2">
                    <a:lumMod val="10000"/>
                  </a:schemeClr>
                </a:solidFill>
              </a:rPr>
              <a:t>ON</a:t>
            </a:r>
            <a:endParaRPr lang="en-US" dirty="0">
              <a:solidFill>
                <a:schemeClr val="bg2">
                  <a:lumMod val="10000"/>
                </a:schemeClr>
              </a:solidFill>
            </a:endParaRPr>
          </a:p>
          <a:p>
            <a:r>
              <a:rPr lang="en-US" sz="2000" dirty="0">
                <a:solidFill>
                  <a:srgbClr val="FF0000"/>
                </a:solidFill>
              </a:rPr>
              <a:t>    </a:t>
            </a:r>
            <a:r>
              <a:rPr lang="en-US" sz="2000" dirty="0" smtClean="0">
                <a:solidFill>
                  <a:srgbClr val="FF0000"/>
                </a:solidFill>
              </a:rPr>
              <a:t>  SMART </a:t>
            </a:r>
            <a:r>
              <a:rPr lang="en-US" sz="2000" dirty="0">
                <a:solidFill>
                  <a:srgbClr val="FF0000"/>
                </a:solidFill>
              </a:rPr>
              <a:t>PARKING MANAGEMENT SYSTEM</a:t>
            </a:r>
          </a:p>
          <a:p>
            <a:endParaRPr lang="en-US" dirty="0"/>
          </a:p>
        </p:txBody>
      </p:sp>
      <p:sp>
        <p:nvSpPr>
          <p:cNvPr id="3" name="TextBox 2">
            <a:extLst>
              <a:ext uri="{FF2B5EF4-FFF2-40B4-BE49-F238E27FC236}">
                <a16:creationId xmlns:a16="http://schemas.microsoft.com/office/drawing/2014/main" xmlns="" id="{2808B006-F68C-AABA-D96D-011888DD21EC}"/>
              </a:ext>
            </a:extLst>
          </p:cNvPr>
          <p:cNvSpPr txBox="1"/>
          <p:nvPr/>
        </p:nvSpPr>
        <p:spPr>
          <a:xfrm>
            <a:off x="7551821" y="5254916"/>
            <a:ext cx="4191000" cy="1303562"/>
          </a:xfrm>
          <a:prstGeom prst="rect">
            <a:avLst/>
          </a:prstGeom>
          <a:noFill/>
        </p:spPr>
        <p:txBody>
          <a:bodyPr wrap="square">
            <a:spAutoFit/>
          </a:bodyPr>
          <a:lstStyle/>
          <a:p>
            <a:pPr marL="12700" algn="ctr">
              <a:lnSpc>
                <a:spcPts val="3329"/>
              </a:lnSpc>
            </a:pPr>
            <a:r>
              <a:rPr lang="en-US" sz="2000" b="1" spc="90" dirty="0">
                <a:latin typeface="Tahoma"/>
                <a:cs typeface="Tahoma"/>
              </a:rPr>
              <a:t>Guide:</a:t>
            </a:r>
          </a:p>
          <a:p>
            <a:pPr marL="12700" algn="ctr">
              <a:lnSpc>
                <a:spcPts val="3329"/>
              </a:lnSpc>
            </a:pPr>
            <a:r>
              <a:rPr lang="en-US" sz="1800" spc="90" dirty="0" err="1">
                <a:latin typeface="Tahoma"/>
                <a:cs typeface="Tahoma"/>
              </a:rPr>
              <a:t>Mr.SAJJAN</a:t>
            </a:r>
            <a:endParaRPr lang="en-US" sz="1800" spc="90" dirty="0">
              <a:latin typeface="Tahoma"/>
              <a:cs typeface="Tahoma"/>
            </a:endParaRPr>
          </a:p>
          <a:p>
            <a:pPr marL="12700" algn="ctr">
              <a:lnSpc>
                <a:spcPts val="3329"/>
              </a:lnSpc>
            </a:pPr>
            <a:r>
              <a:rPr lang="en-US" spc="90" dirty="0">
                <a:latin typeface="Tahoma"/>
                <a:cs typeface="Tahoma"/>
              </a:rPr>
              <a:t>(</a:t>
            </a:r>
            <a:r>
              <a:rPr lang="en-US" spc="90">
                <a:latin typeface="Tahoma"/>
                <a:cs typeface="Tahoma"/>
              </a:rPr>
              <a:t>Assist prof)</a:t>
            </a:r>
            <a:endParaRPr lang="en-US" sz="1800" dirty="0">
              <a:latin typeface="Tahoma"/>
              <a:cs typeface="Tahoma"/>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736594" y="228599"/>
            <a:ext cx="5416806" cy="566822"/>
          </a:xfrm>
          <a:prstGeom prst="rect">
            <a:avLst/>
          </a:prstGeom>
        </p:spPr>
        <p:txBody>
          <a:bodyPr vert="horz" wrap="square" lIns="0" tIns="12700" rIns="0" bIns="0" rtlCol="0">
            <a:spAutoFit/>
          </a:bodyPr>
          <a:lstStyle/>
          <a:p>
            <a:pPr marL="12700" algn="just">
              <a:lnSpc>
                <a:spcPct val="100000"/>
              </a:lnSpc>
              <a:spcBef>
                <a:spcPts val="100"/>
              </a:spcBef>
            </a:pPr>
            <a:r>
              <a:rPr lang="en-US" sz="3600" dirty="0"/>
              <a:t>    </a:t>
            </a:r>
            <a:r>
              <a:rPr lang="en-US" sz="3600" dirty="0" smtClean="0"/>
              <a:t>           </a:t>
            </a:r>
            <a:r>
              <a:rPr lang="en-US" sz="3600" dirty="0" smtClean="0">
                <a:solidFill>
                  <a:schemeClr val="tx1"/>
                </a:solidFill>
              </a:rPr>
              <a:t>Abstract</a:t>
            </a:r>
            <a:r>
              <a:rPr lang="en-US" sz="3600" dirty="0">
                <a:solidFill>
                  <a:schemeClr val="tx1"/>
                </a:solidFill>
              </a:rPr>
              <a:t>:</a:t>
            </a:r>
            <a:endParaRPr sz="3600" dirty="0">
              <a:solidFill>
                <a:schemeClr val="tx1"/>
              </a:solidFill>
            </a:endParaRPr>
          </a:p>
        </p:txBody>
      </p:sp>
      <p:sp>
        <p:nvSpPr>
          <p:cNvPr id="3" name="object 3"/>
          <p:cNvSpPr txBox="1"/>
          <p:nvPr/>
        </p:nvSpPr>
        <p:spPr>
          <a:xfrm>
            <a:off x="775513" y="1169998"/>
            <a:ext cx="10578288" cy="4855560"/>
          </a:xfrm>
          <a:prstGeom prst="rect">
            <a:avLst/>
          </a:prstGeom>
        </p:spPr>
        <p:txBody>
          <a:bodyPr vert="horz" wrap="square" lIns="0" tIns="10795" rIns="0" bIns="0" rtlCol="0">
            <a:spAutoFit/>
          </a:bodyPr>
          <a:lstStyle/>
          <a:p>
            <a:pPr marL="12700" marR="5080" algn="just">
              <a:lnSpc>
                <a:spcPct val="107000"/>
              </a:lnSpc>
              <a:spcBef>
                <a:spcPts val="85"/>
              </a:spcBef>
            </a:pPr>
            <a:r>
              <a:rPr lang="en-US" sz="2400" dirty="0" smtClean="0">
                <a:latin typeface="Times New Roman"/>
                <a:cs typeface="Times New Roman"/>
              </a:rPr>
              <a:t>   </a:t>
            </a:r>
            <a:r>
              <a:rPr sz="2400" dirty="0" smtClean="0">
                <a:latin typeface="Times New Roman"/>
                <a:cs typeface="Times New Roman"/>
              </a:rPr>
              <a:t>This</a:t>
            </a:r>
            <a:r>
              <a:rPr sz="2400" spc="325" dirty="0" smtClean="0">
                <a:latin typeface="Times New Roman"/>
                <a:cs typeface="Times New Roman"/>
              </a:rPr>
              <a:t> </a:t>
            </a:r>
            <a:r>
              <a:rPr sz="2400" dirty="0">
                <a:latin typeface="Times New Roman"/>
                <a:cs typeface="Times New Roman"/>
              </a:rPr>
              <a:t>paper</a:t>
            </a:r>
            <a:r>
              <a:rPr sz="2400" spc="320" dirty="0">
                <a:latin typeface="Times New Roman"/>
                <a:cs typeface="Times New Roman"/>
              </a:rPr>
              <a:t> </a:t>
            </a:r>
            <a:r>
              <a:rPr sz="2400" dirty="0">
                <a:latin typeface="Times New Roman"/>
                <a:cs typeface="Times New Roman"/>
              </a:rPr>
              <a:t>proposes</a:t>
            </a:r>
            <a:r>
              <a:rPr sz="2400" spc="330" dirty="0">
                <a:latin typeface="Times New Roman"/>
                <a:cs typeface="Times New Roman"/>
              </a:rPr>
              <a:t> </a:t>
            </a:r>
            <a:r>
              <a:rPr sz="2400" dirty="0">
                <a:latin typeface="Times New Roman"/>
                <a:cs typeface="Times New Roman"/>
              </a:rPr>
              <a:t>the</a:t>
            </a:r>
            <a:r>
              <a:rPr sz="2400" spc="325" dirty="0">
                <a:latin typeface="Times New Roman"/>
                <a:cs typeface="Times New Roman"/>
              </a:rPr>
              <a:t> </a:t>
            </a:r>
            <a:r>
              <a:rPr sz="2400" dirty="0">
                <a:latin typeface="Times New Roman"/>
                <a:cs typeface="Times New Roman"/>
              </a:rPr>
              <a:t>smart</a:t>
            </a:r>
            <a:r>
              <a:rPr sz="2400" spc="335" dirty="0">
                <a:latin typeface="Times New Roman"/>
                <a:cs typeface="Times New Roman"/>
              </a:rPr>
              <a:t> </a:t>
            </a:r>
            <a:r>
              <a:rPr sz="2400" dirty="0">
                <a:latin typeface="Times New Roman"/>
                <a:cs typeface="Times New Roman"/>
              </a:rPr>
              <a:t>parking</a:t>
            </a:r>
            <a:r>
              <a:rPr sz="2400" spc="325" dirty="0">
                <a:latin typeface="Times New Roman"/>
                <a:cs typeface="Times New Roman"/>
              </a:rPr>
              <a:t> </a:t>
            </a:r>
            <a:r>
              <a:rPr sz="2400" dirty="0">
                <a:latin typeface="Times New Roman"/>
                <a:cs typeface="Times New Roman"/>
              </a:rPr>
              <a:t>management</a:t>
            </a:r>
            <a:r>
              <a:rPr sz="2400" spc="335" dirty="0">
                <a:latin typeface="Times New Roman"/>
                <a:cs typeface="Times New Roman"/>
              </a:rPr>
              <a:t> </a:t>
            </a:r>
            <a:r>
              <a:rPr sz="2400" dirty="0">
                <a:latin typeface="Times New Roman"/>
                <a:cs typeface="Times New Roman"/>
              </a:rPr>
              <a:t>system</a:t>
            </a:r>
            <a:r>
              <a:rPr sz="2400" spc="305" dirty="0">
                <a:latin typeface="Times New Roman"/>
                <a:cs typeface="Times New Roman"/>
              </a:rPr>
              <a:t> </a:t>
            </a:r>
            <a:r>
              <a:rPr sz="2400" dirty="0">
                <a:latin typeface="Times New Roman"/>
                <a:cs typeface="Times New Roman"/>
              </a:rPr>
              <a:t>that</a:t>
            </a:r>
            <a:r>
              <a:rPr sz="2400" spc="335" dirty="0">
                <a:latin typeface="Times New Roman"/>
                <a:cs typeface="Times New Roman"/>
              </a:rPr>
              <a:t> </a:t>
            </a:r>
            <a:r>
              <a:rPr sz="2400" dirty="0">
                <a:latin typeface="Times New Roman"/>
                <a:cs typeface="Times New Roman"/>
              </a:rPr>
              <a:t>depends</a:t>
            </a:r>
            <a:r>
              <a:rPr sz="2400" spc="325" dirty="0">
                <a:latin typeface="Times New Roman"/>
                <a:cs typeface="Times New Roman"/>
              </a:rPr>
              <a:t> </a:t>
            </a:r>
            <a:r>
              <a:rPr sz="2400" dirty="0">
                <a:latin typeface="Times New Roman"/>
                <a:cs typeface="Times New Roman"/>
              </a:rPr>
              <a:t>on</a:t>
            </a:r>
            <a:r>
              <a:rPr sz="2400" spc="325" dirty="0">
                <a:latin typeface="Times New Roman"/>
                <a:cs typeface="Times New Roman"/>
              </a:rPr>
              <a:t> </a:t>
            </a:r>
            <a:r>
              <a:rPr sz="2400" spc="-10" dirty="0">
                <a:latin typeface="Times New Roman"/>
                <a:cs typeface="Times New Roman"/>
              </a:rPr>
              <a:t>Arduino </a:t>
            </a:r>
            <a:r>
              <a:rPr sz="2400" dirty="0">
                <a:latin typeface="Times New Roman"/>
                <a:cs typeface="Times New Roman"/>
              </a:rPr>
              <a:t>parts,</a:t>
            </a:r>
            <a:r>
              <a:rPr sz="2400" spc="114" dirty="0">
                <a:latin typeface="Times New Roman"/>
                <a:cs typeface="Times New Roman"/>
              </a:rPr>
              <a:t> </a:t>
            </a:r>
            <a:r>
              <a:rPr sz="2400" dirty="0">
                <a:latin typeface="Times New Roman"/>
                <a:cs typeface="Times New Roman"/>
              </a:rPr>
              <a:t>android</a:t>
            </a:r>
            <a:r>
              <a:rPr sz="2400" spc="110" dirty="0">
                <a:latin typeface="Times New Roman"/>
                <a:cs typeface="Times New Roman"/>
              </a:rPr>
              <a:t> </a:t>
            </a:r>
            <a:r>
              <a:rPr sz="2400" dirty="0">
                <a:latin typeface="Times New Roman"/>
                <a:cs typeface="Times New Roman"/>
              </a:rPr>
              <a:t>applications.</a:t>
            </a:r>
            <a:r>
              <a:rPr sz="2400" spc="114" dirty="0">
                <a:latin typeface="Times New Roman"/>
                <a:cs typeface="Times New Roman"/>
              </a:rPr>
              <a:t> </a:t>
            </a:r>
            <a:r>
              <a:rPr sz="2400" dirty="0">
                <a:latin typeface="Times New Roman"/>
                <a:cs typeface="Times New Roman"/>
              </a:rPr>
              <a:t>with</a:t>
            </a:r>
            <a:r>
              <a:rPr sz="2400" spc="110" dirty="0">
                <a:latin typeface="Times New Roman"/>
                <a:cs typeface="Times New Roman"/>
              </a:rPr>
              <a:t> </a:t>
            </a:r>
            <a:r>
              <a:rPr sz="2400" dirty="0">
                <a:latin typeface="Times New Roman"/>
                <a:cs typeface="Times New Roman"/>
              </a:rPr>
              <a:t>growing,</a:t>
            </a:r>
            <a:r>
              <a:rPr sz="2400" spc="110" dirty="0">
                <a:latin typeface="Times New Roman"/>
                <a:cs typeface="Times New Roman"/>
              </a:rPr>
              <a:t> </a:t>
            </a:r>
            <a:r>
              <a:rPr sz="2400" dirty="0">
                <a:latin typeface="Times New Roman"/>
                <a:cs typeface="Times New Roman"/>
              </a:rPr>
              <a:t>car</a:t>
            </a:r>
            <a:r>
              <a:rPr sz="2400" spc="100" dirty="0">
                <a:latin typeface="Times New Roman"/>
                <a:cs typeface="Times New Roman"/>
              </a:rPr>
              <a:t> </a:t>
            </a:r>
            <a:r>
              <a:rPr sz="2400" dirty="0">
                <a:latin typeface="Times New Roman"/>
                <a:cs typeface="Times New Roman"/>
              </a:rPr>
              <a:t>parking</a:t>
            </a:r>
            <a:r>
              <a:rPr sz="2400" spc="95" dirty="0">
                <a:latin typeface="Times New Roman"/>
                <a:cs typeface="Times New Roman"/>
              </a:rPr>
              <a:t> </a:t>
            </a:r>
            <a:r>
              <a:rPr sz="2400" dirty="0">
                <a:latin typeface="Times New Roman"/>
                <a:cs typeface="Times New Roman"/>
              </a:rPr>
              <a:t>increases</a:t>
            </a:r>
            <a:r>
              <a:rPr sz="2400" spc="114" dirty="0">
                <a:latin typeface="Times New Roman"/>
                <a:cs typeface="Times New Roman"/>
              </a:rPr>
              <a:t> </a:t>
            </a:r>
            <a:r>
              <a:rPr sz="2400" dirty="0">
                <a:latin typeface="Times New Roman"/>
                <a:cs typeface="Times New Roman"/>
              </a:rPr>
              <a:t>with</a:t>
            </a:r>
            <a:r>
              <a:rPr sz="2400" spc="105" dirty="0">
                <a:latin typeface="Times New Roman"/>
                <a:cs typeface="Times New Roman"/>
              </a:rPr>
              <a:t> </a:t>
            </a:r>
            <a:r>
              <a:rPr sz="2400" dirty="0">
                <a:latin typeface="Times New Roman"/>
                <a:cs typeface="Times New Roman"/>
              </a:rPr>
              <a:t>the</a:t>
            </a:r>
            <a:r>
              <a:rPr sz="2400" spc="100" dirty="0">
                <a:latin typeface="Times New Roman"/>
                <a:cs typeface="Times New Roman"/>
              </a:rPr>
              <a:t> </a:t>
            </a:r>
            <a:r>
              <a:rPr sz="2400" dirty="0">
                <a:latin typeface="Times New Roman"/>
                <a:cs typeface="Times New Roman"/>
              </a:rPr>
              <a:t>number</a:t>
            </a:r>
            <a:r>
              <a:rPr sz="2400" spc="120" dirty="0">
                <a:latin typeface="Times New Roman"/>
                <a:cs typeface="Times New Roman"/>
              </a:rPr>
              <a:t> </a:t>
            </a:r>
            <a:r>
              <a:rPr sz="2400" dirty="0">
                <a:latin typeface="Times New Roman"/>
                <a:cs typeface="Times New Roman"/>
              </a:rPr>
              <a:t>of</a:t>
            </a:r>
            <a:r>
              <a:rPr sz="2400" spc="114" dirty="0">
                <a:latin typeface="Times New Roman"/>
                <a:cs typeface="Times New Roman"/>
              </a:rPr>
              <a:t> </a:t>
            </a:r>
            <a:r>
              <a:rPr sz="2400" spc="-25" dirty="0">
                <a:latin typeface="Times New Roman"/>
                <a:cs typeface="Times New Roman"/>
              </a:rPr>
              <a:t>car </a:t>
            </a:r>
            <a:r>
              <a:rPr sz="2400" dirty="0">
                <a:latin typeface="Times New Roman"/>
                <a:cs typeface="Times New Roman"/>
              </a:rPr>
              <a:t>users.</a:t>
            </a:r>
            <a:r>
              <a:rPr sz="2400" spc="490" dirty="0">
                <a:latin typeface="Times New Roman"/>
                <a:cs typeface="Times New Roman"/>
              </a:rPr>
              <a:t> </a:t>
            </a:r>
            <a:r>
              <a:rPr sz="2400" dirty="0">
                <a:latin typeface="Times New Roman"/>
                <a:cs typeface="Times New Roman"/>
              </a:rPr>
              <a:t>In</a:t>
            </a:r>
            <a:r>
              <a:rPr sz="2400" spc="495" dirty="0">
                <a:latin typeface="Times New Roman"/>
                <a:cs typeface="Times New Roman"/>
              </a:rPr>
              <a:t> </a:t>
            </a:r>
            <a:r>
              <a:rPr sz="2400" dirty="0">
                <a:latin typeface="Times New Roman"/>
                <a:cs typeface="Times New Roman"/>
              </a:rPr>
              <a:t>urban</a:t>
            </a:r>
            <a:r>
              <a:rPr sz="2400" spc="490" dirty="0">
                <a:latin typeface="Times New Roman"/>
                <a:cs typeface="Times New Roman"/>
              </a:rPr>
              <a:t> </a:t>
            </a:r>
            <a:r>
              <a:rPr sz="2400" dirty="0">
                <a:latin typeface="Times New Roman"/>
                <a:cs typeface="Times New Roman"/>
              </a:rPr>
              <a:t>areas,</a:t>
            </a:r>
            <a:r>
              <a:rPr sz="2400" spc="495" dirty="0">
                <a:latin typeface="Times New Roman"/>
                <a:cs typeface="Times New Roman"/>
              </a:rPr>
              <a:t> </a:t>
            </a:r>
            <a:r>
              <a:rPr sz="2400" dirty="0">
                <a:latin typeface="Times New Roman"/>
                <a:cs typeface="Times New Roman"/>
              </a:rPr>
              <a:t>finding</a:t>
            </a:r>
            <a:r>
              <a:rPr sz="2400" spc="500" dirty="0">
                <a:latin typeface="Times New Roman"/>
                <a:cs typeface="Times New Roman"/>
              </a:rPr>
              <a:t> </a:t>
            </a:r>
            <a:r>
              <a:rPr sz="2400" dirty="0">
                <a:latin typeface="Times New Roman"/>
                <a:cs typeface="Times New Roman"/>
              </a:rPr>
              <a:t>a</a:t>
            </a:r>
            <a:r>
              <a:rPr sz="2400" spc="495" dirty="0">
                <a:latin typeface="Times New Roman"/>
                <a:cs typeface="Times New Roman"/>
              </a:rPr>
              <a:t> </a:t>
            </a:r>
            <a:r>
              <a:rPr sz="2400" dirty="0">
                <a:latin typeface="Times New Roman"/>
                <a:cs typeface="Times New Roman"/>
              </a:rPr>
              <a:t>parking</a:t>
            </a:r>
            <a:r>
              <a:rPr sz="2400" spc="495" dirty="0">
                <a:latin typeface="Times New Roman"/>
                <a:cs typeface="Times New Roman"/>
              </a:rPr>
              <a:t> </a:t>
            </a:r>
            <a:r>
              <a:rPr sz="2400" dirty="0">
                <a:latin typeface="Times New Roman"/>
                <a:cs typeface="Times New Roman"/>
              </a:rPr>
              <a:t>spot</a:t>
            </a:r>
            <a:r>
              <a:rPr sz="2400" spc="490" dirty="0">
                <a:latin typeface="Times New Roman"/>
                <a:cs typeface="Times New Roman"/>
              </a:rPr>
              <a:t> </a:t>
            </a:r>
            <a:r>
              <a:rPr sz="2400" dirty="0">
                <a:latin typeface="Times New Roman"/>
                <a:cs typeface="Times New Roman"/>
              </a:rPr>
              <a:t>can</a:t>
            </a:r>
            <a:r>
              <a:rPr sz="2400" spc="495" dirty="0">
                <a:latin typeface="Times New Roman"/>
                <a:cs typeface="Times New Roman"/>
              </a:rPr>
              <a:t> </a:t>
            </a:r>
            <a:r>
              <a:rPr sz="2400" dirty="0">
                <a:latin typeface="Times New Roman"/>
                <a:cs typeface="Times New Roman"/>
              </a:rPr>
              <a:t>be</a:t>
            </a:r>
            <a:r>
              <a:rPr sz="2400" spc="495" dirty="0">
                <a:latin typeface="Times New Roman"/>
                <a:cs typeface="Times New Roman"/>
              </a:rPr>
              <a:t> </a:t>
            </a:r>
            <a:r>
              <a:rPr sz="2400" dirty="0">
                <a:latin typeface="Times New Roman"/>
                <a:cs typeface="Times New Roman"/>
              </a:rPr>
              <a:t>frustrating.</a:t>
            </a:r>
            <a:r>
              <a:rPr sz="2400" spc="480" dirty="0">
                <a:latin typeface="Times New Roman"/>
                <a:cs typeface="Times New Roman"/>
              </a:rPr>
              <a:t> </a:t>
            </a:r>
            <a:r>
              <a:rPr sz="2400" dirty="0">
                <a:latin typeface="Times New Roman"/>
                <a:cs typeface="Times New Roman"/>
              </a:rPr>
              <a:t>The</a:t>
            </a:r>
            <a:r>
              <a:rPr sz="2400" spc="480" dirty="0">
                <a:latin typeface="Times New Roman"/>
                <a:cs typeface="Times New Roman"/>
              </a:rPr>
              <a:t> </a:t>
            </a:r>
            <a:r>
              <a:rPr sz="2400" dirty="0">
                <a:latin typeface="Times New Roman"/>
                <a:cs typeface="Times New Roman"/>
              </a:rPr>
              <a:t>smart</a:t>
            </a:r>
            <a:r>
              <a:rPr sz="2400" spc="505" dirty="0">
                <a:latin typeface="Times New Roman"/>
                <a:cs typeface="Times New Roman"/>
              </a:rPr>
              <a:t> </a:t>
            </a:r>
            <a:r>
              <a:rPr sz="2400" spc="-10" dirty="0">
                <a:latin typeface="Times New Roman"/>
                <a:cs typeface="Times New Roman"/>
              </a:rPr>
              <a:t>parking </a:t>
            </a:r>
            <a:r>
              <a:rPr sz="2400" dirty="0">
                <a:latin typeface="Times New Roman"/>
                <a:cs typeface="Times New Roman"/>
              </a:rPr>
              <a:t>management</a:t>
            </a:r>
            <a:r>
              <a:rPr sz="2400" spc="555" dirty="0">
                <a:latin typeface="Times New Roman"/>
                <a:cs typeface="Times New Roman"/>
              </a:rPr>
              <a:t> </a:t>
            </a:r>
            <a:r>
              <a:rPr sz="2400" dirty="0">
                <a:latin typeface="Times New Roman"/>
                <a:cs typeface="Times New Roman"/>
              </a:rPr>
              <a:t>(SPMS)is</a:t>
            </a:r>
            <a:r>
              <a:rPr sz="2400" spc="545" dirty="0">
                <a:latin typeface="Times New Roman"/>
                <a:cs typeface="Times New Roman"/>
              </a:rPr>
              <a:t> </a:t>
            </a:r>
            <a:r>
              <a:rPr sz="2400" dirty="0">
                <a:latin typeface="Times New Roman"/>
                <a:cs typeface="Times New Roman"/>
              </a:rPr>
              <a:t>aims</a:t>
            </a:r>
            <a:r>
              <a:rPr sz="2400" spc="550" dirty="0">
                <a:latin typeface="Times New Roman"/>
                <a:cs typeface="Times New Roman"/>
              </a:rPr>
              <a:t> </a:t>
            </a:r>
            <a:r>
              <a:rPr sz="2400" dirty="0">
                <a:latin typeface="Times New Roman"/>
                <a:cs typeface="Times New Roman"/>
              </a:rPr>
              <a:t>to</a:t>
            </a:r>
            <a:r>
              <a:rPr sz="2400" spc="540" dirty="0">
                <a:latin typeface="Times New Roman"/>
                <a:cs typeface="Times New Roman"/>
              </a:rPr>
              <a:t> </a:t>
            </a:r>
            <a:r>
              <a:rPr sz="2400" dirty="0">
                <a:latin typeface="Times New Roman"/>
                <a:cs typeface="Times New Roman"/>
              </a:rPr>
              <a:t>solve</a:t>
            </a:r>
            <a:r>
              <a:rPr sz="2400" spc="545" dirty="0">
                <a:latin typeface="Times New Roman"/>
                <a:cs typeface="Times New Roman"/>
              </a:rPr>
              <a:t> </a:t>
            </a:r>
            <a:r>
              <a:rPr sz="2400" dirty="0">
                <a:latin typeface="Times New Roman"/>
                <a:cs typeface="Times New Roman"/>
              </a:rPr>
              <a:t>this</a:t>
            </a:r>
            <a:r>
              <a:rPr sz="2400" spc="535" dirty="0">
                <a:latin typeface="Times New Roman"/>
                <a:cs typeface="Times New Roman"/>
              </a:rPr>
              <a:t> </a:t>
            </a:r>
            <a:r>
              <a:rPr sz="2400" dirty="0">
                <a:latin typeface="Times New Roman"/>
                <a:cs typeface="Times New Roman"/>
              </a:rPr>
              <a:t>issue</a:t>
            </a:r>
            <a:r>
              <a:rPr sz="2400" spc="555" dirty="0">
                <a:latin typeface="Times New Roman"/>
                <a:cs typeface="Times New Roman"/>
              </a:rPr>
              <a:t> </a:t>
            </a:r>
            <a:r>
              <a:rPr sz="2400" dirty="0">
                <a:latin typeface="Times New Roman"/>
                <a:cs typeface="Times New Roman"/>
              </a:rPr>
              <a:t>by</a:t>
            </a:r>
            <a:r>
              <a:rPr sz="2400" spc="540" dirty="0">
                <a:latin typeface="Times New Roman"/>
                <a:cs typeface="Times New Roman"/>
              </a:rPr>
              <a:t> </a:t>
            </a:r>
            <a:r>
              <a:rPr sz="2400" dirty="0">
                <a:latin typeface="Times New Roman"/>
                <a:cs typeface="Times New Roman"/>
              </a:rPr>
              <a:t>using</a:t>
            </a:r>
            <a:r>
              <a:rPr sz="2400" spc="540" dirty="0">
                <a:latin typeface="Times New Roman"/>
                <a:cs typeface="Times New Roman"/>
              </a:rPr>
              <a:t> </a:t>
            </a:r>
            <a:r>
              <a:rPr sz="2400" dirty="0">
                <a:latin typeface="Times New Roman"/>
                <a:cs typeface="Times New Roman"/>
              </a:rPr>
              <a:t>advanced</a:t>
            </a:r>
            <a:r>
              <a:rPr sz="2400" spc="530" dirty="0">
                <a:latin typeface="Times New Roman"/>
                <a:cs typeface="Times New Roman"/>
              </a:rPr>
              <a:t> </a:t>
            </a:r>
            <a:r>
              <a:rPr sz="2400" dirty="0">
                <a:latin typeface="Times New Roman"/>
                <a:cs typeface="Times New Roman"/>
              </a:rPr>
              <a:t>technology</a:t>
            </a:r>
            <a:r>
              <a:rPr sz="2400" spc="540" dirty="0">
                <a:latin typeface="Times New Roman"/>
                <a:cs typeface="Times New Roman"/>
              </a:rPr>
              <a:t> </a:t>
            </a:r>
            <a:r>
              <a:rPr sz="2400" spc="-20" dirty="0">
                <a:latin typeface="Times New Roman"/>
                <a:cs typeface="Times New Roman"/>
              </a:rPr>
              <a:t>this </a:t>
            </a:r>
            <a:r>
              <a:rPr sz="2400" dirty="0">
                <a:latin typeface="Times New Roman"/>
                <a:cs typeface="Times New Roman"/>
              </a:rPr>
              <a:t>system</a:t>
            </a:r>
            <a:r>
              <a:rPr sz="2400" spc="120" dirty="0">
                <a:latin typeface="Times New Roman"/>
                <a:cs typeface="Times New Roman"/>
              </a:rPr>
              <a:t> </a:t>
            </a:r>
            <a:r>
              <a:rPr sz="2400" dirty="0">
                <a:latin typeface="Times New Roman"/>
                <a:cs typeface="Times New Roman"/>
              </a:rPr>
              <a:t>includes</a:t>
            </a:r>
            <a:r>
              <a:rPr sz="2400" spc="135" dirty="0">
                <a:latin typeface="Times New Roman"/>
                <a:cs typeface="Times New Roman"/>
              </a:rPr>
              <a:t> </a:t>
            </a:r>
            <a:r>
              <a:rPr sz="2400" dirty="0">
                <a:latin typeface="Times New Roman"/>
                <a:cs typeface="Times New Roman"/>
              </a:rPr>
              <a:t>sensors</a:t>
            </a:r>
            <a:r>
              <a:rPr sz="2400" spc="130" dirty="0">
                <a:latin typeface="Times New Roman"/>
                <a:cs typeface="Times New Roman"/>
              </a:rPr>
              <a:t> </a:t>
            </a:r>
            <a:r>
              <a:rPr sz="2400" dirty="0">
                <a:latin typeface="Times New Roman"/>
                <a:cs typeface="Times New Roman"/>
              </a:rPr>
              <a:t>placed</a:t>
            </a:r>
            <a:r>
              <a:rPr sz="2400" spc="130" dirty="0">
                <a:latin typeface="Times New Roman"/>
                <a:cs typeface="Times New Roman"/>
              </a:rPr>
              <a:t> </a:t>
            </a:r>
            <a:r>
              <a:rPr sz="2400" dirty="0">
                <a:latin typeface="Times New Roman"/>
                <a:cs typeface="Times New Roman"/>
              </a:rPr>
              <a:t>in</a:t>
            </a:r>
            <a:r>
              <a:rPr sz="2400" spc="120" dirty="0">
                <a:latin typeface="Times New Roman"/>
                <a:cs typeface="Times New Roman"/>
              </a:rPr>
              <a:t> </a:t>
            </a:r>
            <a:r>
              <a:rPr sz="2400" dirty="0">
                <a:latin typeface="Times New Roman"/>
                <a:cs typeface="Times New Roman"/>
              </a:rPr>
              <a:t>each</a:t>
            </a:r>
            <a:r>
              <a:rPr sz="2400" spc="140" dirty="0">
                <a:latin typeface="Times New Roman"/>
                <a:cs typeface="Times New Roman"/>
              </a:rPr>
              <a:t> </a:t>
            </a:r>
            <a:r>
              <a:rPr sz="2400" dirty="0">
                <a:latin typeface="Times New Roman"/>
                <a:cs typeface="Times New Roman"/>
              </a:rPr>
              <a:t>parking</a:t>
            </a:r>
            <a:r>
              <a:rPr sz="2400" spc="135" dirty="0">
                <a:latin typeface="Times New Roman"/>
                <a:cs typeface="Times New Roman"/>
              </a:rPr>
              <a:t> </a:t>
            </a:r>
            <a:r>
              <a:rPr sz="2400" dirty="0">
                <a:latin typeface="Times New Roman"/>
                <a:cs typeface="Times New Roman"/>
              </a:rPr>
              <a:t>space</a:t>
            </a:r>
            <a:r>
              <a:rPr sz="2400" spc="114" dirty="0">
                <a:latin typeface="Times New Roman"/>
                <a:cs typeface="Times New Roman"/>
              </a:rPr>
              <a:t> </a:t>
            </a:r>
            <a:r>
              <a:rPr sz="2400" dirty="0">
                <a:latin typeface="Times New Roman"/>
                <a:cs typeface="Times New Roman"/>
              </a:rPr>
              <a:t>to</a:t>
            </a:r>
            <a:r>
              <a:rPr sz="2400" spc="140" dirty="0">
                <a:latin typeface="Times New Roman"/>
                <a:cs typeface="Times New Roman"/>
              </a:rPr>
              <a:t> </a:t>
            </a:r>
            <a:r>
              <a:rPr sz="2400" dirty="0">
                <a:latin typeface="Times New Roman"/>
                <a:cs typeface="Times New Roman"/>
              </a:rPr>
              <a:t>detect</a:t>
            </a:r>
            <a:r>
              <a:rPr sz="2400" spc="130" dirty="0">
                <a:latin typeface="Times New Roman"/>
                <a:cs typeface="Times New Roman"/>
              </a:rPr>
              <a:t> </a:t>
            </a:r>
            <a:r>
              <a:rPr sz="2400" dirty="0">
                <a:latin typeface="Times New Roman"/>
                <a:cs typeface="Times New Roman"/>
              </a:rPr>
              <a:t>whether</a:t>
            </a:r>
            <a:r>
              <a:rPr sz="2400" spc="135" dirty="0">
                <a:latin typeface="Times New Roman"/>
                <a:cs typeface="Times New Roman"/>
              </a:rPr>
              <a:t> </a:t>
            </a:r>
            <a:r>
              <a:rPr sz="2400" dirty="0">
                <a:latin typeface="Times New Roman"/>
                <a:cs typeface="Times New Roman"/>
              </a:rPr>
              <a:t>its</a:t>
            </a:r>
            <a:r>
              <a:rPr sz="2400" spc="135" dirty="0">
                <a:latin typeface="Times New Roman"/>
                <a:cs typeface="Times New Roman"/>
              </a:rPr>
              <a:t> </a:t>
            </a:r>
            <a:r>
              <a:rPr sz="2400" dirty="0">
                <a:latin typeface="Times New Roman"/>
                <a:cs typeface="Times New Roman"/>
              </a:rPr>
              <a:t>occupied</a:t>
            </a:r>
            <a:r>
              <a:rPr sz="2400" spc="125" dirty="0">
                <a:latin typeface="Times New Roman"/>
                <a:cs typeface="Times New Roman"/>
              </a:rPr>
              <a:t> </a:t>
            </a:r>
            <a:r>
              <a:rPr sz="2400" spc="-25" dirty="0">
                <a:latin typeface="Times New Roman"/>
                <a:cs typeface="Times New Roman"/>
              </a:rPr>
              <a:t>or </a:t>
            </a:r>
            <a:r>
              <a:rPr sz="2400" dirty="0">
                <a:latin typeface="Times New Roman"/>
                <a:cs typeface="Times New Roman"/>
              </a:rPr>
              <a:t>free.</a:t>
            </a:r>
            <a:r>
              <a:rPr sz="2400" spc="-55" dirty="0">
                <a:latin typeface="Times New Roman"/>
                <a:cs typeface="Times New Roman"/>
              </a:rPr>
              <a:t> </a:t>
            </a:r>
            <a:r>
              <a:rPr sz="2400" dirty="0">
                <a:latin typeface="Times New Roman"/>
                <a:cs typeface="Times New Roman"/>
              </a:rPr>
              <a:t>The</a:t>
            </a:r>
            <a:r>
              <a:rPr sz="2400" spc="-20" dirty="0">
                <a:latin typeface="Times New Roman"/>
                <a:cs typeface="Times New Roman"/>
              </a:rPr>
              <a:t> </a:t>
            </a:r>
            <a:r>
              <a:rPr sz="2400" dirty="0">
                <a:latin typeface="Times New Roman"/>
                <a:cs typeface="Times New Roman"/>
              </a:rPr>
              <a:t>data</a:t>
            </a:r>
            <a:r>
              <a:rPr sz="2400" spc="-15" dirty="0">
                <a:latin typeface="Times New Roman"/>
                <a:cs typeface="Times New Roman"/>
              </a:rPr>
              <a:t> </a:t>
            </a:r>
            <a:r>
              <a:rPr sz="2400" dirty="0">
                <a:latin typeface="Times New Roman"/>
                <a:cs typeface="Times New Roman"/>
              </a:rPr>
              <a:t>from</a:t>
            </a:r>
            <a:r>
              <a:rPr sz="2400" spc="-15" dirty="0">
                <a:latin typeface="Times New Roman"/>
                <a:cs typeface="Times New Roman"/>
              </a:rPr>
              <a:t> </a:t>
            </a:r>
            <a:r>
              <a:rPr sz="2400" dirty="0">
                <a:latin typeface="Times New Roman"/>
                <a:cs typeface="Times New Roman"/>
              </a:rPr>
              <a:t>these</a:t>
            </a:r>
            <a:r>
              <a:rPr sz="2400" spc="-25" dirty="0">
                <a:latin typeface="Times New Roman"/>
                <a:cs typeface="Times New Roman"/>
              </a:rPr>
              <a:t> </a:t>
            </a:r>
            <a:r>
              <a:rPr sz="2400" dirty="0">
                <a:latin typeface="Times New Roman"/>
                <a:cs typeface="Times New Roman"/>
              </a:rPr>
              <a:t>sensors is</a:t>
            </a:r>
            <a:r>
              <a:rPr sz="2400" spc="-20" dirty="0">
                <a:latin typeface="Times New Roman"/>
                <a:cs typeface="Times New Roman"/>
              </a:rPr>
              <a:t> </a:t>
            </a:r>
            <a:r>
              <a:rPr sz="2400" dirty="0">
                <a:latin typeface="Times New Roman"/>
                <a:cs typeface="Times New Roman"/>
              </a:rPr>
              <a:t>sent</a:t>
            </a:r>
            <a:r>
              <a:rPr sz="2400" spc="-15" dirty="0">
                <a:latin typeface="Times New Roman"/>
                <a:cs typeface="Times New Roman"/>
              </a:rPr>
              <a:t> </a:t>
            </a:r>
            <a:r>
              <a:rPr sz="2400" dirty="0">
                <a:latin typeface="Times New Roman"/>
                <a:cs typeface="Times New Roman"/>
              </a:rPr>
              <a:t>to</a:t>
            </a:r>
            <a:r>
              <a:rPr sz="2400" spc="-20" dirty="0">
                <a:latin typeface="Times New Roman"/>
                <a:cs typeface="Times New Roman"/>
              </a:rPr>
              <a:t> </a:t>
            </a:r>
            <a:r>
              <a:rPr sz="2400" dirty="0">
                <a:latin typeface="Times New Roman"/>
                <a:cs typeface="Times New Roman"/>
              </a:rPr>
              <a:t>a</a:t>
            </a:r>
            <a:r>
              <a:rPr sz="2400" spc="-5" dirty="0">
                <a:latin typeface="Times New Roman"/>
                <a:cs typeface="Times New Roman"/>
              </a:rPr>
              <a:t> </a:t>
            </a:r>
            <a:r>
              <a:rPr sz="2400" dirty="0">
                <a:latin typeface="Times New Roman"/>
                <a:cs typeface="Times New Roman"/>
              </a:rPr>
              <a:t>central</a:t>
            </a:r>
            <a:r>
              <a:rPr sz="2400" spc="-30" dirty="0">
                <a:latin typeface="Times New Roman"/>
                <a:cs typeface="Times New Roman"/>
              </a:rPr>
              <a:t> </a:t>
            </a:r>
            <a:r>
              <a:rPr sz="2400" dirty="0">
                <a:latin typeface="Times New Roman"/>
                <a:cs typeface="Times New Roman"/>
              </a:rPr>
              <a:t>server</a:t>
            </a:r>
            <a:r>
              <a:rPr sz="2400" spc="-20" dirty="0">
                <a:latin typeface="Times New Roman"/>
                <a:cs typeface="Times New Roman"/>
              </a:rPr>
              <a:t> </a:t>
            </a:r>
            <a:r>
              <a:rPr sz="2400" dirty="0">
                <a:latin typeface="Times New Roman"/>
                <a:cs typeface="Times New Roman"/>
              </a:rPr>
              <a:t>that</a:t>
            </a:r>
            <a:r>
              <a:rPr sz="2400" spc="-20" dirty="0">
                <a:latin typeface="Times New Roman"/>
                <a:cs typeface="Times New Roman"/>
              </a:rPr>
              <a:t> </a:t>
            </a:r>
            <a:r>
              <a:rPr sz="2400" dirty="0">
                <a:latin typeface="Times New Roman"/>
                <a:cs typeface="Times New Roman"/>
              </a:rPr>
              <a:t>processes</a:t>
            </a:r>
            <a:r>
              <a:rPr sz="2400" spc="-15" dirty="0">
                <a:latin typeface="Times New Roman"/>
                <a:cs typeface="Times New Roman"/>
              </a:rPr>
              <a:t> </a:t>
            </a:r>
            <a:r>
              <a:rPr sz="2400" dirty="0">
                <a:latin typeface="Times New Roman"/>
                <a:cs typeface="Times New Roman"/>
              </a:rPr>
              <a:t>it</a:t>
            </a:r>
            <a:r>
              <a:rPr sz="2400" spc="-25" dirty="0">
                <a:latin typeface="Times New Roman"/>
                <a:cs typeface="Times New Roman"/>
              </a:rPr>
              <a:t> </a:t>
            </a:r>
            <a:r>
              <a:rPr sz="2400" dirty="0">
                <a:latin typeface="Times New Roman"/>
                <a:cs typeface="Times New Roman"/>
              </a:rPr>
              <a:t>in</a:t>
            </a:r>
            <a:r>
              <a:rPr sz="2400" spc="-10" dirty="0">
                <a:latin typeface="Times New Roman"/>
                <a:cs typeface="Times New Roman"/>
              </a:rPr>
              <a:t> </a:t>
            </a:r>
            <a:r>
              <a:rPr sz="2400" dirty="0">
                <a:latin typeface="Times New Roman"/>
                <a:cs typeface="Times New Roman"/>
              </a:rPr>
              <a:t>real-</a:t>
            </a:r>
            <a:r>
              <a:rPr sz="2400" spc="-10" dirty="0">
                <a:latin typeface="Times New Roman"/>
                <a:cs typeface="Times New Roman"/>
              </a:rPr>
              <a:t>time.</a:t>
            </a:r>
            <a:endParaRPr sz="2400" dirty="0">
              <a:latin typeface="Times New Roman"/>
              <a:cs typeface="Times New Roman"/>
            </a:endParaRPr>
          </a:p>
          <a:p>
            <a:pPr marL="12700" marR="5080" indent="381000" algn="just">
              <a:lnSpc>
                <a:spcPct val="107000"/>
              </a:lnSpc>
              <a:spcBef>
                <a:spcPts val="800"/>
              </a:spcBef>
            </a:pPr>
            <a:r>
              <a:rPr sz="2400" dirty="0">
                <a:latin typeface="Times New Roman"/>
                <a:cs typeface="Times New Roman"/>
              </a:rPr>
              <a:t>It</a:t>
            </a:r>
            <a:r>
              <a:rPr sz="2400" spc="185" dirty="0">
                <a:latin typeface="Times New Roman"/>
                <a:cs typeface="Times New Roman"/>
              </a:rPr>
              <a:t> </a:t>
            </a:r>
            <a:r>
              <a:rPr sz="2400" dirty="0">
                <a:latin typeface="Times New Roman"/>
                <a:cs typeface="Times New Roman"/>
              </a:rPr>
              <a:t>allows</a:t>
            </a:r>
            <a:r>
              <a:rPr sz="2400" spc="180" dirty="0">
                <a:latin typeface="Times New Roman"/>
                <a:cs typeface="Times New Roman"/>
              </a:rPr>
              <a:t> </a:t>
            </a:r>
            <a:r>
              <a:rPr sz="2400" dirty="0">
                <a:latin typeface="Times New Roman"/>
                <a:cs typeface="Times New Roman"/>
              </a:rPr>
              <a:t>users</a:t>
            </a:r>
            <a:r>
              <a:rPr sz="2400" spc="190" dirty="0">
                <a:latin typeface="Times New Roman"/>
                <a:cs typeface="Times New Roman"/>
              </a:rPr>
              <a:t> </a:t>
            </a:r>
            <a:r>
              <a:rPr sz="2400" dirty="0">
                <a:latin typeface="Times New Roman"/>
                <a:cs typeface="Times New Roman"/>
              </a:rPr>
              <a:t>to</a:t>
            </a:r>
            <a:r>
              <a:rPr sz="2400" spc="180" dirty="0">
                <a:latin typeface="Times New Roman"/>
                <a:cs typeface="Times New Roman"/>
              </a:rPr>
              <a:t> </a:t>
            </a:r>
            <a:r>
              <a:rPr sz="2400" dirty="0">
                <a:latin typeface="Times New Roman"/>
                <a:cs typeface="Times New Roman"/>
              </a:rPr>
              <a:t>reserve</a:t>
            </a:r>
            <a:r>
              <a:rPr sz="2400" spc="195" dirty="0">
                <a:latin typeface="Times New Roman"/>
                <a:cs typeface="Times New Roman"/>
              </a:rPr>
              <a:t> </a:t>
            </a:r>
            <a:r>
              <a:rPr sz="2400" dirty="0">
                <a:latin typeface="Times New Roman"/>
                <a:cs typeface="Times New Roman"/>
              </a:rPr>
              <a:t>parking</a:t>
            </a:r>
            <a:r>
              <a:rPr sz="2400" spc="170" dirty="0">
                <a:latin typeface="Times New Roman"/>
                <a:cs typeface="Times New Roman"/>
              </a:rPr>
              <a:t> </a:t>
            </a:r>
            <a:r>
              <a:rPr sz="2400" dirty="0">
                <a:latin typeface="Times New Roman"/>
                <a:cs typeface="Times New Roman"/>
              </a:rPr>
              <a:t>spaces</a:t>
            </a:r>
            <a:r>
              <a:rPr sz="2400" spc="185" dirty="0">
                <a:latin typeface="Times New Roman"/>
                <a:cs typeface="Times New Roman"/>
              </a:rPr>
              <a:t> </a:t>
            </a:r>
            <a:r>
              <a:rPr sz="2400" dirty="0">
                <a:latin typeface="Times New Roman"/>
                <a:cs typeface="Times New Roman"/>
              </a:rPr>
              <a:t>of</a:t>
            </a:r>
            <a:r>
              <a:rPr sz="2400" spc="180" dirty="0">
                <a:latin typeface="Times New Roman"/>
                <a:cs typeface="Times New Roman"/>
              </a:rPr>
              <a:t> </a:t>
            </a:r>
            <a:r>
              <a:rPr sz="2400" dirty="0">
                <a:latin typeface="Times New Roman"/>
                <a:cs typeface="Times New Roman"/>
              </a:rPr>
              <a:t>time</a:t>
            </a:r>
            <a:r>
              <a:rPr sz="2400" spc="185" dirty="0">
                <a:latin typeface="Times New Roman"/>
                <a:cs typeface="Times New Roman"/>
              </a:rPr>
              <a:t> </a:t>
            </a:r>
            <a:r>
              <a:rPr sz="2400" dirty="0">
                <a:latin typeface="Times New Roman"/>
                <a:cs typeface="Times New Roman"/>
              </a:rPr>
              <a:t>by</a:t>
            </a:r>
            <a:r>
              <a:rPr sz="2400" spc="185" dirty="0">
                <a:latin typeface="Times New Roman"/>
                <a:cs typeface="Times New Roman"/>
              </a:rPr>
              <a:t> </a:t>
            </a:r>
            <a:r>
              <a:rPr sz="2400" dirty="0">
                <a:latin typeface="Times New Roman"/>
                <a:cs typeface="Times New Roman"/>
              </a:rPr>
              <a:t>alerting</a:t>
            </a:r>
            <a:r>
              <a:rPr sz="2400" spc="185" dirty="0">
                <a:latin typeface="Times New Roman"/>
                <a:cs typeface="Times New Roman"/>
              </a:rPr>
              <a:t> </a:t>
            </a:r>
            <a:r>
              <a:rPr sz="2400" dirty="0">
                <a:latin typeface="Times New Roman"/>
                <a:cs typeface="Times New Roman"/>
              </a:rPr>
              <a:t>they</a:t>
            </a:r>
            <a:r>
              <a:rPr sz="2400" spc="185" dirty="0">
                <a:latin typeface="Times New Roman"/>
                <a:cs typeface="Times New Roman"/>
              </a:rPr>
              <a:t> </a:t>
            </a:r>
            <a:r>
              <a:rPr sz="2400" dirty="0">
                <a:latin typeface="Times New Roman"/>
                <a:cs typeface="Times New Roman"/>
              </a:rPr>
              <a:t>have</a:t>
            </a:r>
            <a:r>
              <a:rPr sz="2400" spc="185" dirty="0">
                <a:latin typeface="Times New Roman"/>
                <a:cs typeface="Times New Roman"/>
              </a:rPr>
              <a:t> </a:t>
            </a:r>
            <a:r>
              <a:rPr sz="2400" dirty="0">
                <a:latin typeface="Times New Roman"/>
                <a:cs typeface="Times New Roman"/>
              </a:rPr>
              <a:t>a</a:t>
            </a:r>
            <a:r>
              <a:rPr sz="2400" spc="180" dirty="0">
                <a:latin typeface="Times New Roman"/>
                <a:cs typeface="Times New Roman"/>
              </a:rPr>
              <a:t> </a:t>
            </a:r>
            <a:r>
              <a:rPr sz="2400" dirty="0">
                <a:latin typeface="Times New Roman"/>
                <a:cs typeface="Times New Roman"/>
              </a:rPr>
              <a:t>spot</a:t>
            </a:r>
            <a:r>
              <a:rPr sz="2400" spc="190" dirty="0">
                <a:latin typeface="Times New Roman"/>
                <a:cs typeface="Times New Roman"/>
              </a:rPr>
              <a:t> </a:t>
            </a:r>
            <a:r>
              <a:rPr sz="2400" spc="-20" dirty="0">
                <a:latin typeface="Times New Roman"/>
                <a:cs typeface="Times New Roman"/>
              </a:rPr>
              <a:t>when </a:t>
            </a:r>
            <a:r>
              <a:rPr sz="2400" dirty="0">
                <a:latin typeface="Times New Roman"/>
                <a:cs typeface="Times New Roman"/>
              </a:rPr>
              <a:t>they</a:t>
            </a:r>
            <a:r>
              <a:rPr sz="2400" spc="85" dirty="0">
                <a:latin typeface="Times New Roman"/>
                <a:cs typeface="Times New Roman"/>
              </a:rPr>
              <a:t>  </a:t>
            </a:r>
            <a:r>
              <a:rPr sz="2400" dirty="0">
                <a:latin typeface="Times New Roman"/>
                <a:cs typeface="Times New Roman"/>
              </a:rPr>
              <a:t>arrive.</a:t>
            </a:r>
            <a:r>
              <a:rPr sz="2400" spc="85" dirty="0">
                <a:latin typeface="Times New Roman"/>
                <a:cs typeface="Times New Roman"/>
              </a:rPr>
              <a:t>  </a:t>
            </a:r>
            <a:r>
              <a:rPr sz="2400" dirty="0">
                <a:latin typeface="Times New Roman"/>
                <a:cs typeface="Times New Roman"/>
              </a:rPr>
              <a:t>By</a:t>
            </a:r>
            <a:r>
              <a:rPr sz="2400" spc="90" dirty="0">
                <a:latin typeface="Times New Roman"/>
                <a:cs typeface="Times New Roman"/>
              </a:rPr>
              <a:t>  </a:t>
            </a:r>
            <a:r>
              <a:rPr sz="2400" dirty="0">
                <a:latin typeface="Times New Roman"/>
                <a:cs typeface="Times New Roman"/>
              </a:rPr>
              <a:t>providing</a:t>
            </a:r>
            <a:r>
              <a:rPr sz="2400" spc="100" dirty="0">
                <a:latin typeface="Times New Roman"/>
                <a:cs typeface="Times New Roman"/>
              </a:rPr>
              <a:t>  </a:t>
            </a:r>
            <a:r>
              <a:rPr sz="2400" spc="-10" dirty="0">
                <a:latin typeface="Times New Roman"/>
                <a:cs typeface="Times New Roman"/>
              </a:rPr>
              <a:t>real-</a:t>
            </a:r>
            <a:r>
              <a:rPr sz="2400" dirty="0">
                <a:latin typeface="Times New Roman"/>
                <a:cs typeface="Times New Roman"/>
              </a:rPr>
              <a:t>time</a:t>
            </a:r>
            <a:r>
              <a:rPr sz="2400" spc="90" dirty="0">
                <a:latin typeface="Times New Roman"/>
                <a:cs typeface="Times New Roman"/>
              </a:rPr>
              <a:t>  </a:t>
            </a:r>
            <a:r>
              <a:rPr sz="2400" dirty="0">
                <a:latin typeface="Times New Roman"/>
                <a:cs typeface="Times New Roman"/>
              </a:rPr>
              <a:t>alerts</a:t>
            </a:r>
            <a:r>
              <a:rPr sz="2400" spc="95" dirty="0">
                <a:latin typeface="Times New Roman"/>
                <a:cs typeface="Times New Roman"/>
              </a:rPr>
              <a:t>  </a:t>
            </a:r>
            <a:r>
              <a:rPr sz="2400" dirty="0">
                <a:latin typeface="Times New Roman"/>
                <a:cs typeface="Times New Roman"/>
              </a:rPr>
              <a:t>and</a:t>
            </a:r>
            <a:r>
              <a:rPr sz="2400" spc="90" dirty="0">
                <a:latin typeface="Times New Roman"/>
                <a:cs typeface="Times New Roman"/>
              </a:rPr>
              <a:t>  </a:t>
            </a:r>
            <a:r>
              <a:rPr sz="2400" dirty="0">
                <a:latin typeface="Times New Roman"/>
                <a:cs typeface="Times New Roman"/>
              </a:rPr>
              <a:t>reservation</a:t>
            </a:r>
            <a:r>
              <a:rPr sz="2400" spc="95" dirty="0">
                <a:latin typeface="Times New Roman"/>
                <a:cs typeface="Times New Roman"/>
              </a:rPr>
              <a:t>  </a:t>
            </a:r>
            <a:r>
              <a:rPr sz="2400" dirty="0">
                <a:latin typeface="Times New Roman"/>
                <a:cs typeface="Times New Roman"/>
              </a:rPr>
              <a:t>capabilities</a:t>
            </a:r>
            <a:r>
              <a:rPr sz="2400" spc="95" dirty="0">
                <a:latin typeface="Times New Roman"/>
                <a:cs typeface="Times New Roman"/>
              </a:rPr>
              <a:t>  </a:t>
            </a:r>
            <a:r>
              <a:rPr sz="2400" dirty="0">
                <a:latin typeface="Times New Roman"/>
                <a:cs typeface="Times New Roman"/>
              </a:rPr>
              <a:t>the</a:t>
            </a:r>
            <a:r>
              <a:rPr sz="2400" spc="90" dirty="0">
                <a:latin typeface="Times New Roman"/>
                <a:cs typeface="Times New Roman"/>
              </a:rPr>
              <a:t>  </a:t>
            </a:r>
            <a:r>
              <a:rPr sz="2400" spc="-10" dirty="0">
                <a:latin typeface="Times New Roman"/>
                <a:cs typeface="Times New Roman"/>
              </a:rPr>
              <a:t>system </a:t>
            </a:r>
            <a:r>
              <a:rPr sz="2400" dirty="0">
                <a:latin typeface="Times New Roman"/>
                <a:cs typeface="Times New Roman"/>
              </a:rPr>
              <a:t>improves</a:t>
            </a:r>
            <a:r>
              <a:rPr sz="2400" spc="320" dirty="0">
                <a:latin typeface="Times New Roman"/>
                <a:cs typeface="Times New Roman"/>
              </a:rPr>
              <a:t> </a:t>
            </a:r>
            <a:r>
              <a:rPr sz="2400" dirty="0">
                <a:latin typeface="Times New Roman"/>
                <a:cs typeface="Times New Roman"/>
              </a:rPr>
              <a:t>the</a:t>
            </a:r>
            <a:r>
              <a:rPr sz="2400" spc="315" dirty="0">
                <a:latin typeface="Times New Roman"/>
                <a:cs typeface="Times New Roman"/>
              </a:rPr>
              <a:t> </a:t>
            </a:r>
            <a:r>
              <a:rPr sz="2400" dirty="0">
                <a:latin typeface="Times New Roman"/>
                <a:cs typeface="Times New Roman"/>
              </a:rPr>
              <a:t>efficiency</a:t>
            </a:r>
            <a:r>
              <a:rPr sz="2400" spc="310" dirty="0">
                <a:latin typeface="Times New Roman"/>
                <a:cs typeface="Times New Roman"/>
              </a:rPr>
              <a:t> </a:t>
            </a:r>
            <a:r>
              <a:rPr sz="2400" dirty="0">
                <a:latin typeface="Times New Roman"/>
                <a:cs typeface="Times New Roman"/>
              </a:rPr>
              <a:t>of</a:t>
            </a:r>
            <a:r>
              <a:rPr sz="2400" spc="310" dirty="0">
                <a:latin typeface="Times New Roman"/>
                <a:cs typeface="Times New Roman"/>
              </a:rPr>
              <a:t> </a:t>
            </a:r>
            <a:r>
              <a:rPr sz="2400" dirty="0">
                <a:latin typeface="Times New Roman"/>
                <a:cs typeface="Times New Roman"/>
              </a:rPr>
              <a:t>urban</a:t>
            </a:r>
            <a:r>
              <a:rPr sz="2400" spc="315" dirty="0">
                <a:latin typeface="Times New Roman"/>
                <a:cs typeface="Times New Roman"/>
              </a:rPr>
              <a:t> </a:t>
            </a:r>
            <a:r>
              <a:rPr sz="2400" dirty="0">
                <a:latin typeface="Times New Roman"/>
                <a:cs typeface="Times New Roman"/>
              </a:rPr>
              <a:t>parking.</a:t>
            </a:r>
            <a:r>
              <a:rPr sz="2400" spc="315" dirty="0">
                <a:latin typeface="Times New Roman"/>
                <a:cs typeface="Times New Roman"/>
              </a:rPr>
              <a:t> </a:t>
            </a:r>
            <a:r>
              <a:rPr sz="2400" dirty="0">
                <a:latin typeface="Times New Roman"/>
                <a:cs typeface="Times New Roman"/>
              </a:rPr>
              <a:t>This</a:t>
            </a:r>
            <a:r>
              <a:rPr sz="2400" spc="325" dirty="0">
                <a:latin typeface="Times New Roman"/>
                <a:cs typeface="Times New Roman"/>
              </a:rPr>
              <a:t> </a:t>
            </a:r>
            <a:r>
              <a:rPr sz="2400" dirty="0">
                <a:latin typeface="Times New Roman"/>
                <a:cs typeface="Times New Roman"/>
              </a:rPr>
              <a:t>integration</a:t>
            </a:r>
            <a:r>
              <a:rPr sz="2400" spc="305" dirty="0">
                <a:latin typeface="Times New Roman"/>
                <a:cs typeface="Times New Roman"/>
              </a:rPr>
              <a:t> </a:t>
            </a:r>
            <a:r>
              <a:rPr sz="2400" dirty="0">
                <a:latin typeface="Times New Roman"/>
                <a:cs typeface="Times New Roman"/>
              </a:rPr>
              <a:t>of</a:t>
            </a:r>
            <a:r>
              <a:rPr sz="2400" spc="310" dirty="0">
                <a:latin typeface="Times New Roman"/>
                <a:cs typeface="Times New Roman"/>
              </a:rPr>
              <a:t> </a:t>
            </a:r>
            <a:r>
              <a:rPr sz="2400" dirty="0">
                <a:latin typeface="Times New Roman"/>
                <a:cs typeface="Times New Roman"/>
              </a:rPr>
              <a:t>smart</a:t>
            </a:r>
            <a:r>
              <a:rPr sz="2400" spc="330" dirty="0">
                <a:latin typeface="Times New Roman"/>
                <a:cs typeface="Times New Roman"/>
              </a:rPr>
              <a:t> </a:t>
            </a:r>
            <a:r>
              <a:rPr sz="2400" dirty="0">
                <a:latin typeface="Times New Roman"/>
                <a:cs typeface="Times New Roman"/>
              </a:rPr>
              <a:t>technologies</a:t>
            </a:r>
            <a:r>
              <a:rPr sz="2400" spc="305" dirty="0">
                <a:latin typeface="Times New Roman"/>
                <a:cs typeface="Times New Roman"/>
              </a:rPr>
              <a:t> </a:t>
            </a:r>
            <a:r>
              <a:rPr sz="2400" spc="-20" dirty="0">
                <a:latin typeface="Times New Roman"/>
                <a:cs typeface="Times New Roman"/>
              </a:rPr>
              <a:t>into </a:t>
            </a:r>
            <a:r>
              <a:rPr sz="2400" dirty="0">
                <a:latin typeface="Times New Roman"/>
                <a:cs typeface="Times New Roman"/>
              </a:rPr>
              <a:t>parking</a:t>
            </a:r>
            <a:r>
              <a:rPr sz="2400" spc="415" dirty="0">
                <a:latin typeface="Times New Roman"/>
                <a:cs typeface="Times New Roman"/>
              </a:rPr>
              <a:t> </a:t>
            </a:r>
            <a:r>
              <a:rPr sz="2400" dirty="0">
                <a:latin typeface="Times New Roman"/>
                <a:cs typeface="Times New Roman"/>
              </a:rPr>
              <a:t>management</a:t>
            </a:r>
            <a:r>
              <a:rPr sz="2400" spc="425" dirty="0">
                <a:latin typeface="Times New Roman"/>
                <a:cs typeface="Times New Roman"/>
              </a:rPr>
              <a:t> </a:t>
            </a:r>
            <a:r>
              <a:rPr sz="2400" dirty="0">
                <a:latin typeface="Times New Roman"/>
                <a:cs typeface="Times New Roman"/>
              </a:rPr>
              <a:t>represents</a:t>
            </a:r>
            <a:r>
              <a:rPr sz="2400" spc="425" dirty="0">
                <a:latin typeface="Times New Roman"/>
                <a:cs typeface="Times New Roman"/>
              </a:rPr>
              <a:t> </a:t>
            </a:r>
            <a:r>
              <a:rPr sz="2400" dirty="0">
                <a:latin typeface="Times New Roman"/>
                <a:cs typeface="Times New Roman"/>
              </a:rPr>
              <a:t>a</a:t>
            </a:r>
            <a:r>
              <a:rPr sz="2400" spc="409" dirty="0">
                <a:latin typeface="Times New Roman"/>
                <a:cs typeface="Times New Roman"/>
              </a:rPr>
              <a:t> </a:t>
            </a:r>
            <a:r>
              <a:rPr sz="2400" dirty="0">
                <a:latin typeface="Times New Roman"/>
                <a:cs typeface="Times New Roman"/>
              </a:rPr>
              <a:t>significant</a:t>
            </a:r>
            <a:r>
              <a:rPr sz="2400" spc="425" dirty="0">
                <a:latin typeface="Times New Roman"/>
                <a:cs typeface="Times New Roman"/>
              </a:rPr>
              <a:t> </a:t>
            </a:r>
            <a:r>
              <a:rPr sz="2400" dirty="0">
                <a:latin typeface="Times New Roman"/>
                <a:cs typeface="Times New Roman"/>
              </a:rPr>
              <a:t>step</a:t>
            </a:r>
            <a:r>
              <a:rPr sz="2400" spc="415" dirty="0">
                <a:latin typeface="Times New Roman"/>
                <a:cs typeface="Times New Roman"/>
              </a:rPr>
              <a:t> </a:t>
            </a:r>
            <a:r>
              <a:rPr sz="2400" dirty="0">
                <a:latin typeface="Times New Roman"/>
                <a:cs typeface="Times New Roman"/>
              </a:rPr>
              <a:t>toward</a:t>
            </a:r>
            <a:r>
              <a:rPr sz="2400" spc="409" dirty="0">
                <a:latin typeface="Times New Roman"/>
                <a:cs typeface="Times New Roman"/>
              </a:rPr>
              <a:t> </a:t>
            </a:r>
            <a:r>
              <a:rPr sz="2400" dirty="0">
                <a:latin typeface="Times New Roman"/>
                <a:cs typeface="Times New Roman"/>
              </a:rPr>
              <a:t>smarter</a:t>
            </a:r>
            <a:r>
              <a:rPr sz="2400" spc="425" dirty="0">
                <a:latin typeface="Times New Roman"/>
                <a:cs typeface="Times New Roman"/>
              </a:rPr>
              <a:t> </a:t>
            </a:r>
            <a:r>
              <a:rPr sz="2400" dirty="0">
                <a:latin typeface="Times New Roman"/>
                <a:cs typeface="Times New Roman"/>
              </a:rPr>
              <a:t>and</a:t>
            </a:r>
            <a:r>
              <a:rPr sz="2400" spc="400" dirty="0">
                <a:latin typeface="Times New Roman"/>
                <a:cs typeface="Times New Roman"/>
              </a:rPr>
              <a:t> </a:t>
            </a:r>
            <a:r>
              <a:rPr sz="2400" dirty="0">
                <a:latin typeface="Times New Roman"/>
                <a:cs typeface="Times New Roman"/>
              </a:rPr>
              <a:t>more</a:t>
            </a:r>
            <a:r>
              <a:rPr sz="2400" spc="420" dirty="0">
                <a:latin typeface="Times New Roman"/>
                <a:cs typeface="Times New Roman"/>
              </a:rPr>
              <a:t> </a:t>
            </a:r>
            <a:r>
              <a:rPr sz="2400" spc="-10" dirty="0">
                <a:latin typeface="Times New Roman"/>
                <a:cs typeface="Times New Roman"/>
              </a:rPr>
              <a:t>efficient </a:t>
            </a:r>
            <a:r>
              <a:rPr sz="2400" dirty="0">
                <a:latin typeface="Times New Roman"/>
                <a:cs typeface="Times New Roman"/>
              </a:rPr>
              <a:t>urban</a:t>
            </a:r>
            <a:r>
              <a:rPr sz="2400" spc="-5" dirty="0">
                <a:latin typeface="Times New Roman"/>
                <a:cs typeface="Times New Roman"/>
              </a:rPr>
              <a:t> </a:t>
            </a:r>
            <a:r>
              <a:rPr sz="2400" dirty="0">
                <a:latin typeface="Times New Roman"/>
                <a:cs typeface="Times New Roman"/>
              </a:rPr>
              <a:t>infrastructure</a:t>
            </a:r>
            <a:r>
              <a:rPr sz="2400" spc="-30" dirty="0">
                <a:latin typeface="Times New Roman"/>
                <a:cs typeface="Times New Roman"/>
              </a:rPr>
              <a:t> </a:t>
            </a:r>
            <a:r>
              <a:rPr sz="2400" spc="-50" dirty="0">
                <a:latin typeface="Times New Roman"/>
                <a:cs typeface="Times New Roman"/>
              </a:rPr>
              <a:t>.</a:t>
            </a:r>
            <a:endParaRPr sz="2400" dirty="0">
              <a:latin typeface="Times New Roman"/>
              <a:cs typeface="Times New Roman"/>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object 3"/>
          <p:cNvSpPr txBox="1"/>
          <p:nvPr/>
        </p:nvSpPr>
        <p:spPr>
          <a:xfrm>
            <a:off x="584835" y="1174072"/>
            <a:ext cx="11022330" cy="5683928"/>
          </a:xfrm>
          <a:prstGeom prst="rect">
            <a:avLst/>
          </a:prstGeom>
        </p:spPr>
        <p:txBody>
          <a:bodyPr vert="horz" wrap="square" lIns="0" tIns="12700" rIns="0" bIns="0" rtlCol="0">
            <a:spAutoFit/>
          </a:bodyPr>
          <a:lstStyle/>
          <a:p>
            <a:pPr marL="342900" indent="-342900">
              <a:buFont typeface="Wingdings" panose="05000000000000000000" pitchFamily="2" charset="2"/>
              <a:buChar char="Ø"/>
            </a:pPr>
            <a:r>
              <a:rPr lang="en-US" sz="2400" dirty="0"/>
              <a:t>Efficiently manages parking spaces using </a:t>
            </a:r>
            <a:r>
              <a:rPr lang="en-US" sz="2400" b="1" dirty="0"/>
              <a:t>IoT and sensors</a:t>
            </a:r>
          </a:p>
          <a:p>
            <a:pPr marL="342900" indent="-342900">
              <a:buFont typeface="Wingdings" panose="05000000000000000000" pitchFamily="2" charset="2"/>
              <a:buChar char="Ø"/>
            </a:pPr>
            <a:endParaRPr lang="en-US" sz="2400" dirty="0"/>
          </a:p>
          <a:p>
            <a:pPr marL="342900" indent="-342900">
              <a:buFont typeface="Wingdings" panose="05000000000000000000" pitchFamily="2" charset="2"/>
              <a:buChar char="Ø"/>
            </a:pPr>
            <a:r>
              <a:rPr lang="en-US" sz="2400" dirty="0"/>
              <a:t>Provides </a:t>
            </a:r>
            <a:r>
              <a:rPr lang="en-US" sz="2400" b="1" dirty="0"/>
              <a:t>real-time availability</a:t>
            </a:r>
            <a:r>
              <a:rPr lang="en-US" sz="2400" dirty="0"/>
              <a:t> of parking spots</a:t>
            </a:r>
          </a:p>
          <a:p>
            <a:pPr marL="342900" indent="-342900">
              <a:buFont typeface="Wingdings" panose="05000000000000000000" pitchFamily="2" charset="2"/>
              <a:buChar char="Ø"/>
            </a:pPr>
            <a:endParaRPr lang="en-US" sz="2400" dirty="0"/>
          </a:p>
          <a:p>
            <a:pPr marL="342900" indent="-342900">
              <a:buFont typeface="Wingdings" panose="05000000000000000000" pitchFamily="2" charset="2"/>
              <a:buChar char="Ø"/>
            </a:pPr>
            <a:r>
              <a:rPr lang="en-US" sz="2400" b="1" dirty="0"/>
              <a:t>Reduces traffic congestion</a:t>
            </a:r>
            <a:r>
              <a:rPr lang="en-US" sz="2400" dirty="0"/>
              <a:t> and vehicle idling time</a:t>
            </a:r>
          </a:p>
          <a:p>
            <a:pPr marL="342900" indent="-342900">
              <a:buFont typeface="Wingdings" panose="05000000000000000000" pitchFamily="2" charset="2"/>
              <a:buChar char="Ø"/>
            </a:pPr>
            <a:endParaRPr lang="en-US" sz="2400" dirty="0"/>
          </a:p>
          <a:p>
            <a:pPr marL="342900" indent="-342900">
              <a:buFont typeface="Wingdings" panose="05000000000000000000" pitchFamily="2" charset="2"/>
              <a:buChar char="Ø"/>
            </a:pPr>
            <a:r>
              <a:rPr lang="en-US" sz="2400" b="1" dirty="0"/>
              <a:t>Saves fuel</a:t>
            </a:r>
            <a:r>
              <a:rPr lang="en-US" sz="2400" dirty="0"/>
              <a:t> and minimizes environmental pollution</a:t>
            </a:r>
          </a:p>
          <a:p>
            <a:pPr marL="342900" indent="-342900">
              <a:buFont typeface="Wingdings" panose="05000000000000000000" pitchFamily="2" charset="2"/>
              <a:buChar char="Ø"/>
            </a:pPr>
            <a:endParaRPr lang="en-US" sz="2400" dirty="0"/>
          </a:p>
          <a:p>
            <a:pPr marL="342900" indent="-342900">
              <a:buFont typeface="Wingdings" panose="05000000000000000000" pitchFamily="2" charset="2"/>
              <a:buChar char="Ø"/>
            </a:pPr>
            <a:r>
              <a:rPr lang="en-US" sz="2400" dirty="0"/>
              <a:t>Allows </a:t>
            </a:r>
            <a:r>
              <a:rPr lang="en-US" sz="2400" b="1" dirty="0"/>
              <a:t>digital payments</a:t>
            </a:r>
            <a:r>
              <a:rPr lang="en-US" sz="2400" dirty="0"/>
              <a:t> and automated ticketing</a:t>
            </a:r>
          </a:p>
          <a:p>
            <a:pPr marL="342900" indent="-342900">
              <a:buFont typeface="Wingdings" panose="05000000000000000000" pitchFamily="2" charset="2"/>
              <a:buChar char="Ø"/>
            </a:pPr>
            <a:endParaRPr lang="en-US" sz="2400" dirty="0"/>
          </a:p>
          <a:p>
            <a:pPr marL="342900" indent="-342900">
              <a:buFont typeface="Wingdings" panose="05000000000000000000" pitchFamily="2" charset="2"/>
              <a:buChar char="Ø"/>
            </a:pPr>
            <a:r>
              <a:rPr lang="en-US" sz="2400" dirty="0"/>
              <a:t>Enhances </a:t>
            </a:r>
            <a:r>
              <a:rPr lang="en-US" sz="2400" b="1" dirty="0"/>
              <a:t>user convenience</a:t>
            </a:r>
            <a:r>
              <a:rPr lang="en-US" sz="2400" dirty="0"/>
              <a:t> through mobile apps</a:t>
            </a:r>
          </a:p>
          <a:p>
            <a:pPr marL="342900" indent="-342900">
              <a:buFont typeface="Wingdings" panose="05000000000000000000" pitchFamily="2" charset="2"/>
              <a:buChar char="Ø"/>
            </a:pPr>
            <a:endParaRPr lang="en-US" sz="2400" dirty="0"/>
          </a:p>
          <a:p>
            <a:pPr marL="342900" indent="-342900">
              <a:buFont typeface="Wingdings" panose="05000000000000000000" pitchFamily="2" charset="2"/>
              <a:buChar char="Ø"/>
            </a:pPr>
            <a:r>
              <a:rPr lang="en-US" sz="2400" dirty="0"/>
              <a:t>Helps in </a:t>
            </a:r>
            <a:r>
              <a:rPr lang="en-US" sz="2400" b="1" dirty="0"/>
              <a:t>data collection and monitoring</a:t>
            </a:r>
            <a:r>
              <a:rPr lang="en-US" sz="2400" dirty="0"/>
              <a:t> for smart city planning</a:t>
            </a:r>
          </a:p>
          <a:p>
            <a:pPr marL="342900" indent="-342900">
              <a:buFont typeface="Wingdings" panose="05000000000000000000" pitchFamily="2" charset="2"/>
              <a:buChar char="Ø"/>
            </a:pPr>
            <a:endParaRPr lang="en-US" sz="2400" dirty="0"/>
          </a:p>
          <a:p>
            <a:pPr marL="354965" marR="5080" indent="-342900">
              <a:lnSpc>
                <a:spcPct val="150100"/>
              </a:lnSpc>
              <a:spcBef>
                <a:spcPts val="100"/>
              </a:spcBef>
              <a:buFont typeface="Wingdings" panose="05000000000000000000" pitchFamily="2" charset="2"/>
              <a:buChar char="Ø"/>
              <a:tabLst>
                <a:tab pos="354965" algn="l"/>
                <a:tab pos="822960" algn="l"/>
                <a:tab pos="1937385" algn="l"/>
                <a:tab pos="2376170" algn="l"/>
                <a:tab pos="3534410" algn="l"/>
                <a:tab pos="4126229" algn="l"/>
                <a:tab pos="5843905" algn="l"/>
                <a:tab pos="6671945" algn="l"/>
                <a:tab pos="7752080" algn="l"/>
                <a:tab pos="8747760" algn="l"/>
                <a:tab pos="9354185" algn="l"/>
              </a:tabLst>
            </a:pPr>
            <a:endParaRPr sz="2400" dirty="0">
              <a:latin typeface="Times New Roman"/>
              <a:cs typeface="Times New Roman"/>
            </a:endParaRPr>
          </a:p>
        </p:txBody>
      </p:sp>
      <p:sp>
        <p:nvSpPr>
          <p:cNvPr id="5" name="Title 4">
            <a:extLst>
              <a:ext uri="{FF2B5EF4-FFF2-40B4-BE49-F238E27FC236}">
                <a16:creationId xmlns:a16="http://schemas.microsoft.com/office/drawing/2014/main" xmlns="" id="{B5C15BCA-09B7-2CDA-3B68-6391ACA48109}"/>
              </a:ext>
            </a:extLst>
          </p:cNvPr>
          <p:cNvSpPr>
            <a:spLocks noGrp="1"/>
          </p:cNvSpPr>
          <p:nvPr>
            <p:ph type="title"/>
          </p:nvPr>
        </p:nvSpPr>
        <p:spPr>
          <a:xfrm>
            <a:off x="971499" y="299465"/>
            <a:ext cx="10249001" cy="492443"/>
          </a:xfrm>
        </p:spPr>
        <p:txBody>
          <a:bodyPr/>
          <a:lstStyle/>
          <a:p>
            <a:r>
              <a:rPr lang="en-US" dirty="0"/>
              <a:t>                                   </a:t>
            </a:r>
            <a:r>
              <a:rPr lang="en-US" dirty="0">
                <a:solidFill>
                  <a:schemeClr val="tx1"/>
                </a:solidFill>
              </a:rPr>
              <a:t>Introduction:</a:t>
            </a: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71499" y="299465"/>
            <a:ext cx="10249001" cy="430887"/>
          </a:xfrm>
        </p:spPr>
        <p:txBody>
          <a:bodyPr/>
          <a:lstStyle/>
          <a:p>
            <a:r>
              <a:rPr lang="en-US" sz="2800" dirty="0" smtClean="0">
                <a:solidFill>
                  <a:schemeClr val="tx1"/>
                </a:solidFill>
              </a:rPr>
              <a:t>BLOCK DIAGRAM:</a:t>
            </a:r>
            <a:endParaRPr lang="en-IN" sz="2800" dirty="0">
              <a:solidFill>
                <a:schemeClr val="tx1"/>
              </a:solidFill>
            </a:endParaRPr>
          </a:p>
        </p:txBody>
      </p:sp>
      <p:sp>
        <p:nvSpPr>
          <p:cNvPr id="3" name="Text Placeholder 2"/>
          <p:cNvSpPr>
            <a:spLocks noGrp="1"/>
          </p:cNvSpPr>
          <p:nvPr>
            <p:ph type="body" idx="1"/>
          </p:nvPr>
        </p:nvSpPr>
        <p:spPr>
          <a:xfrm>
            <a:off x="699312" y="730352"/>
            <a:ext cx="9587688" cy="5365648"/>
          </a:xfrm>
        </p:spPr>
        <p:txBody>
          <a:bodyPr/>
          <a:lstStyle/>
          <a:p>
            <a:endParaRPr lang="en-IN" dirty="0"/>
          </a:p>
        </p:txBody>
      </p:sp>
      <p:sp>
        <p:nvSpPr>
          <p:cNvPr id="4" name="Rectangle 3"/>
          <p:cNvSpPr/>
          <p:nvPr/>
        </p:nvSpPr>
        <p:spPr>
          <a:xfrm>
            <a:off x="4343400" y="1752600"/>
            <a:ext cx="2133600" cy="3657600"/>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en-US" dirty="0" smtClean="0"/>
              <a:t>ESP32</a:t>
            </a:r>
          </a:p>
          <a:p>
            <a:pPr algn="ctr"/>
            <a:r>
              <a:rPr lang="en-US" dirty="0" smtClean="0"/>
              <a:t>Microcontroller</a:t>
            </a:r>
            <a:endParaRPr lang="en-IN" dirty="0"/>
          </a:p>
        </p:txBody>
      </p:sp>
      <p:sp>
        <p:nvSpPr>
          <p:cNvPr id="5" name="Rectangle 4"/>
          <p:cNvSpPr/>
          <p:nvPr/>
        </p:nvSpPr>
        <p:spPr>
          <a:xfrm>
            <a:off x="1219200" y="2323922"/>
            <a:ext cx="2057400" cy="91440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smtClean="0">
                <a:latin typeface="Times New Roman" panose="02020603050405020304" pitchFamily="18" charset="0"/>
                <a:cs typeface="Times New Roman" panose="02020603050405020304" pitchFamily="18" charset="0"/>
              </a:rPr>
              <a:t>IR SENSOR(1)</a:t>
            </a:r>
            <a:endParaRPr lang="en-IN" dirty="0">
              <a:latin typeface="Times New Roman" panose="02020603050405020304" pitchFamily="18" charset="0"/>
              <a:cs typeface="Times New Roman" panose="02020603050405020304" pitchFamily="18" charset="0"/>
            </a:endParaRPr>
          </a:p>
        </p:txBody>
      </p:sp>
      <p:sp>
        <p:nvSpPr>
          <p:cNvPr id="6" name="Rectangle 5"/>
          <p:cNvSpPr/>
          <p:nvPr/>
        </p:nvSpPr>
        <p:spPr>
          <a:xfrm>
            <a:off x="1219200" y="3514750"/>
            <a:ext cx="2057400" cy="784098"/>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smtClean="0"/>
              <a:t>IR SENSOR(2)</a:t>
            </a:r>
            <a:endParaRPr lang="en-IN" dirty="0"/>
          </a:p>
        </p:txBody>
      </p:sp>
      <p:sp>
        <p:nvSpPr>
          <p:cNvPr id="7" name="Rectangle 6"/>
          <p:cNvSpPr/>
          <p:nvPr/>
        </p:nvSpPr>
        <p:spPr>
          <a:xfrm>
            <a:off x="1219200" y="4603648"/>
            <a:ext cx="2057400" cy="958952"/>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smtClean="0"/>
              <a:t>IR SENSOR(3)</a:t>
            </a:r>
            <a:endParaRPr lang="en-IN" dirty="0"/>
          </a:p>
        </p:txBody>
      </p:sp>
      <p:sp>
        <p:nvSpPr>
          <p:cNvPr id="8" name="Rectangle 7"/>
          <p:cNvSpPr/>
          <p:nvPr/>
        </p:nvSpPr>
        <p:spPr>
          <a:xfrm>
            <a:off x="7383439" y="2047494"/>
            <a:ext cx="2065361" cy="848106"/>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smtClean="0"/>
              <a:t>SERVO MOTOR</a:t>
            </a:r>
            <a:endParaRPr lang="en-IN" dirty="0"/>
          </a:p>
        </p:txBody>
      </p:sp>
      <p:sp>
        <p:nvSpPr>
          <p:cNvPr id="10" name="Rectangle 9"/>
          <p:cNvSpPr/>
          <p:nvPr/>
        </p:nvSpPr>
        <p:spPr>
          <a:xfrm>
            <a:off x="7391400" y="3962401"/>
            <a:ext cx="2057400" cy="91439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smtClean="0"/>
              <a:t>OLED</a:t>
            </a:r>
            <a:endParaRPr lang="en-IN" dirty="0"/>
          </a:p>
        </p:txBody>
      </p:sp>
      <p:sp>
        <p:nvSpPr>
          <p:cNvPr id="11" name="Right Arrow 10"/>
          <p:cNvSpPr/>
          <p:nvPr/>
        </p:nvSpPr>
        <p:spPr>
          <a:xfrm>
            <a:off x="3276600" y="2625446"/>
            <a:ext cx="1066800" cy="270154"/>
          </a:xfrm>
          <a:prstGeom prst="rightArrow">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
        <p:nvSpPr>
          <p:cNvPr id="12" name="Right Arrow 11"/>
          <p:cNvSpPr/>
          <p:nvPr/>
        </p:nvSpPr>
        <p:spPr>
          <a:xfrm>
            <a:off x="3276600" y="3755542"/>
            <a:ext cx="1066800" cy="314706"/>
          </a:xfrm>
          <a:prstGeom prst="rightArrow">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
        <p:nvSpPr>
          <p:cNvPr id="13" name="Right Arrow 12"/>
          <p:cNvSpPr/>
          <p:nvPr/>
        </p:nvSpPr>
        <p:spPr>
          <a:xfrm>
            <a:off x="3276600" y="4930190"/>
            <a:ext cx="1066800" cy="228600"/>
          </a:xfrm>
          <a:prstGeom prst="rightArrow">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
        <p:nvSpPr>
          <p:cNvPr id="14" name="Right Arrow 13"/>
          <p:cNvSpPr/>
          <p:nvPr/>
        </p:nvSpPr>
        <p:spPr>
          <a:xfrm>
            <a:off x="6477000" y="2438400"/>
            <a:ext cx="906439" cy="228600"/>
          </a:xfrm>
          <a:prstGeom prst="rightArrow">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
        <p:nvSpPr>
          <p:cNvPr id="19" name="Right Arrow 18"/>
          <p:cNvSpPr/>
          <p:nvPr/>
        </p:nvSpPr>
        <p:spPr>
          <a:xfrm>
            <a:off x="6477000" y="4298848"/>
            <a:ext cx="906439" cy="304800"/>
          </a:xfrm>
          <a:prstGeom prst="rightArrow">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
        <p:nvSpPr>
          <p:cNvPr id="20" name="Rectangle 19"/>
          <p:cNvSpPr/>
          <p:nvPr/>
        </p:nvSpPr>
        <p:spPr>
          <a:xfrm>
            <a:off x="1219200" y="1308304"/>
            <a:ext cx="2057400" cy="73919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smtClean="0"/>
              <a:t>POWER SUPPLY</a:t>
            </a:r>
            <a:endParaRPr lang="en-IN" dirty="0"/>
          </a:p>
        </p:txBody>
      </p:sp>
      <p:sp>
        <p:nvSpPr>
          <p:cNvPr id="27" name="Right Arrow 26"/>
          <p:cNvSpPr/>
          <p:nvPr/>
        </p:nvSpPr>
        <p:spPr>
          <a:xfrm>
            <a:off x="3276600" y="1828800"/>
            <a:ext cx="1066800" cy="218694"/>
          </a:xfrm>
          <a:prstGeom prst="rightArrow">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Tree>
    <p:extLst>
      <p:ext uri="{BB962C8B-B14F-4D97-AF65-F5344CB8AC3E}">
        <p14:creationId xmlns:p14="http://schemas.microsoft.com/office/powerpoint/2010/main" val="325543969"/>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71499" y="299465"/>
            <a:ext cx="10249001" cy="430887"/>
          </a:xfrm>
        </p:spPr>
        <p:txBody>
          <a:bodyPr/>
          <a:lstStyle/>
          <a:p>
            <a:r>
              <a:rPr lang="en-US" sz="2800" dirty="0" smtClean="0">
                <a:solidFill>
                  <a:schemeClr val="tx1"/>
                </a:solidFill>
              </a:rPr>
              <a:t>MAJOR COMPONENTS:</a:t>
            </a:r>
            <a:endParaRPr lang="en-IN" sz="2800" dirty="0">
              <a:solidFill>
                <a:schemeClr val="tx1"/>
              </a:solidFill>
            </a:endParaRPr>
          </a:p>
        </p:txBody>
      </p:sp>
      <p:sp>
        <p:nvSpPr>
          <p:cNvPr id="4" name="Text Placeholder 3"/>
          <p:cNvSpPr>
            <a:spLocks noGrp="1"/>
          </p:cNvSpPr>
          <p:nvPr>
            <p:ph type="body" idx="1"/>
          </p:nvPr>
        </p:nvSpPr>
        <p:spPr>
          <a:xfrm>
            <a:off x="728620" y="1143000"/>
            <a:ext cx="10521188" cy="4801314"/>
          </a:xfrm>
        </p:spPr>
        <p:txBody>
          <a:bodyPr/>
          <a:lstStyle/>
          <a:p>
            <a:r>
              <a:rPr lang="en-US" b="1" dirty="0" smtClean="0"/>
              <a:t>1.IR Sensor:</a:t>
            </a:r>
          </a:p>
          <a:p>
            <a:endParaRPr lang="en-US" dirty="0" smtClean="0"/>
          </a:p>
          <a:p>
            <a:pPr marL="342900" indent="-342900">
              <a:buFont typeface="Arial" panose="020B0604020202020204" pitchFamily="34" charset="0"/>
              <a:buChar char="•"/>
            </a:pPr>
            <a:r>
              <a:rPr lang="en-US" dirty="0"/>
              <a:t>An </a:t>
            </a:r>
            <a:r>
              <a:rPr lang="en-US" b="1" dirty="0"/>
              <a:t>IR sensor</a:t>
            </a:r>
            <a:r>
              <a:rPr lang="en-US" dirty="0"/>
              <a:t> is an electronic device that detects infrared radiation (heat) emitted by objects.</a:t>
            </a:r>
          </a:p>
          <a:p>
            <a:pPr marL="342900" indent="-342900">
              <a:buFont typeface="Arial" panose="020B0604020202020204" pitchFamily="34" charset="0"/>
              <a:buChar char="•"/>
            </a:pPr>
            <a:r>
              <a:rPr lang="en-US" dirty="0"/>
              <a:t>It can sense </a:t>
            </a:r>
            <a:r>
              <a:rPr lang="en-US" b="1" dirty="0"/>
              <a:t>motion</a:t>
            </a:r>
            <a:r>
              <a:rPr lang="en-US" dirty="0"/>
              <a:t>, </a:t>
            </a:r>
            <a:r>
              <a:rPr lang="en-US" b="1" dirty="0"/>
              <a:t>proximity</a:t>
            </a:r>
            <a:r>
              <a:rPr lang="en-US" dirty="0"/>
              <a:t>, and </a:t>
            </a:r>
            <a:r>
              <a:rPr lang="en-US" b="1" dirty="0"/>
              <a:t>temperature</a:t>
            </a:r>
            <a:r>
              <a:rPr lang="en-US" dirty="0"/>
              <a:t> without physical contact.</a:t>
            </a:r>
          </a:p>
          <a:p>
            <a:pPr marL="342900" indent="-342900">
              <a:buFont typeface="Arial" panose="020B0604020202020204" pitchFamily="34" charset="0"/>
              <a:buChar char="•"/>
            </a:pPr>
            <a:r>
              <a:rPr lang="en-IN" dirty="0"/>
              <a:t>Used for motion detection</a:t>
            </a:r>
            <a:r>
              <a:rPr lang="en-IN" dirty="0" smtClean="0"/>
              <a:t>.</a:t>
            </a:r>
          </a:p>
          <a:p>
            <a:pPr marL="342900" indent="-342900">
              <a:buFont typeface="Arial" panose="020B0604020202020204" pitchFamily="34" charset="0"/>
              <a:buChar char="•"/>
            </a:pPr>
            <a:r>
              <a:rPr lang="en-US" dirty="0"/>
              <a:t>Range: </a:t>
            </a:r>
            <a:r>
              <a:rPr lang="en-US" b="1" dirty="0"/>
              <a:t>Up to 20 </a:t>
            </a:r>
            <a:r>
              <a:rPr lang="en-US" b="1" dirty="0" smtClean="0"/>
              <a:t>cm</a:t>
            </a:r>
          </a:p>
          <a:p>
            <a:r>
              <a:rPr lang="en-US" b="1" dirty="0"/>
              <a:t>Types</a:t>
            </a:r>
            <a:r>
              <a:rPr lang="en-US" dirty="0" smtClean="0"/>
              <a:t>:</a:t>
            </a:r>
          </a:p>
          <a:p>
            <a:endParaRPr lang="en-US" dirty="0"/>
          </a:p>
          <a:p>
            <a:pPr marL="342900" indent="-342900">
              <a:buFont typeface="Arial" panose="020B0604020202020204" pitchFamily="34" charset="0"/>
              <a:buChar char="•"/>
            </a:pPr>
            <a:r>
              <a:rPr lang="en-US" b="1" dirty="0"/>
              <a:t>Active IR sensors</a:t>
            </a:r>
            <a:r>
              <a:rPr lang="en-US" dirty="0"/>
              <a:t>: Use both emitter and receiver to detect reflected IR light.</a:t>
            </a:r>
          </a:p>
          <a:p>
            <a:pPr marL="342900" indent="-342900">
              <a:buFont typeface="Arial" panose="020B0604020202020204" pitchFamily="34" charset="0"/>
              <a:buChar char="•"/>
            </a:pPr>
            <a:r>
              <a:rPr lang="en-US" b="1" dirty="0"/>
              <a:t>Passive IR sensors (PIR)</a:t>
            </a:r>
            <a:r>
              <a:rPr lang="en-US" dirty="0"/>
              <a:t>: Detect infrared radiation from warm objects like humans or animals.</a:t>
            </a:r>
          </a:p>
          <a:p>
            <a:pPr marL="342900" indent="-342900">
              <a:buFont typeface="Arial" panose="020B0604020202020204" pitchFamily="34" charset="0"/>
              <a:buChar char="•"/>
            </a:pPr>
            <a:endParaRPr lang="en-IN" dirty="0"/>
          </a:p>
        </p:txBody>
      </p:sp>
      <p:pic>
        <p:nvPicPr>
          <p:cNvPr id="5" name="Image 19" descr="IR Infrared Obstacle Avoidance Sensor With Arduino | by Aditya Kekre ..."/>
          <p:cNvPicPr/>
          <p:nvPr/>
        </p:nvPicPr>
        <p:blipFill>
          <a:blip r:embed="rId2" cstate="print"/>
          <a:stretch>
            <a:fillRect/>
          </a:stretch>
        </p:blipFill>
        <p:spPr>
          <a:xfrm>
            <a:off x="6477000" y="5182314"/>
            <a:ext cx="3733800" cy="1524000"/>
          </a:xfrm>
          <a:prstGeom prst="rect">
            <a:avLst/>
          </a:prstGeom>
        </p:spPr>
      </p:pic>
    </p:spTree>
    <p:extLst>
      <p:ext uri="{BB962C8B-B14F-4D97-AF65-F5344CB8AC3E}">
        <p14:creationId xmlns:p14="http://schemas.microsoft.com/office/powerpoint/2010/main" val="3429729739"/>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Text Placeholder 2"/>
          <p:cNvSpPr>
            <a:spLocks noGrp="1"/>
          </p:cNvSpPr>
          <p:nvPr>
            <p:ph type="body" idx="1"/>
          </p:nvPr>
        </p:nvSpPr>
        <p:spPr>
          <a:xfrm>
            <a:off x="734481" y="1143000"/>
            <a:ext cx="10521188" cy="7755969"/>
          </a:xfrm>
        </p:spPr>
        <p:txBody>
          <a:bodyPr/>
          <a:lstStyle/>
          <a:p>
            <a:r>
              <a:rPr lang="en-US" b="1" dirty="0" smtClean="0"/>
              <a:t>2.Servo Motor:</a:t>
            </a:r>
          </a:p>
          <a:p>
            <a:endParaRPr lang="en-US" b="1" dirty="0" smtClean="0"/>
          </a:p>
          <a:p>
            <a:r>
              <a:rPr lang="en-US" dirty="0" smtClean="0"/>
              <a:t>    A </a:t>
            </a:r>
            <a:r>
              <a:rPr lang="en-US" dirty="0"/>
              <a:t>servo motor is a small motor that can turn to a specific angle.</a:t>
            </a:r>
          </a:p>
          <a:p>
            <a:pPr marL="342900" indent="-342900">
              <a:buFont typeface="Arial" panose="020B0604020202020204" pitchFamily="34" charset="0"/>
              <a:buChar char="•"/>
            </a:pPr>
            <a:r>
              <a:rPr lang="en-US" dirty="0"/>
              <a:t>It receives a signal telling it what angle to move to, and it adjusts itself using feedback</a:t>
            </a:r>
            <a:r>
              <a:rPr lang="en-US" dirty="0" smtClean="0"/>
              <a:t>.</a:t>
            </a:r>
          </a:p>
          <a:p>
            <a:r>
              <a:rPr lang="en-US" b="1" dirty="0"/>
              <a:t>uses</a:t>
            </a:r>
            <a:r>
              <a:rPr lang="en-US" dirty="0" smtClean="0"/>
              <a:t>:</a:t>
            </a:r>
          </a:p>
          <a:p>
            <a:endParaRPr lang="en-US" dirty="0"/>
          </a:p>
          <a:p>
            <a:pPr marL="342900" indent="-342900">
              <a:buFont typeface="Arial" panose="020B0604020202020204" pitchFamily="34" charset="0"/>
              <a:buChar char="•"/>
            </a:pPr>
            <a:r>
              <a:rPr lang="en-US" dirty="0"/>
              <a:t>Robotics</a:t>
            </a:r>
          </a:p>
          <a:p>
            <a:pPr marL="342900" indent="-342900">
              <a:buFont typeface="Arial" panose="020B0604020202020204" pitchFamily="34" charset="0"/>
              <a:buChar char="•"/>
            </a:pPr>
            <a:r>
              <a:rPr lang="en-US" dirty="0"/>
              <a:t>Smart parking gates</a:t>
            </a:r>
          </a:p>
          <a:p>
            <a:pPr marL="342900" indent="-342900">
              <a:buFont typeface="Arial" panose="020B0604020202020204" pitchFamily="34" charset="0"/>
              <a:buChar char="•"/>
            </a:pPr>
            <a:r>
              <a:rPr lang="en-US" dirty="0"/>
              <a:t>Camera pan/tilt</a:t>
            </a:r>
          </a:p>
          <a:p>
            <a:pPr marL="342900" indent="-342900">
              <a:buFont typeface="Arial" panose="020B0604020202020204" pitchFamily="34" charset="0"/>
              <a:buChar char="•"/>
            </a:pPr>
            <a:r>
              <a:rPr lang="en-US" dirty="0"/>
              <a:t>Remote-controlled </a:t>
            </a:r>
            <a:r>
              <a:rPr lang="en-US" dirty="0" smtClean="0"/>
              <a:t>cars</a:t>
            </a:r>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endParaRPr lang="en-US" dirty="0" smtClean="0"/>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endParaRPr lang="en-US" dirty="0" smtClean="0"/>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endParaRPr lang="en-US" dirty="0" smtClean="0"/>
          </a:p>
          <a:p>
            <a:pPr marL="342900" indent="-342900">
              <a:buFont typeface="Arial" panose="020B0604020202020204" pitchFamily="34" charset="0"/>
              <a:buChar char="•"/>
            </a:pPr>
            <a:endParaRPr lang="en-US" dirty="0" smtClean="0"/>
          </a:p>
          <a:p>
            <a:endParaRPr lang="en-US" b="1" dirty="0" smtClean="0"/>
          </a:p>
          <a:p>
            <a:endParaRPr lang="en-US" b="1" dirty="0"/>
          </a:p>
          <a:p>
            <a:pPr marL="342900" indent="-342900">
              <a:buFont typeface="Arial" panose="020B0604020202020204" pitchFamily="34" charset="0"/>
              <a:buChar char="•"/>
            </a:pPr>
            <a:endParaRPr lang="en-IN" dirty="0"/>
          </a:p>
        </p:txBody>
      </p:sp>
      <p:pic>
        <p:nvPicPr>
          <p:cNvPr id="4" name="Image 23"/>
          <p:cNvPicPr/>
          <p:nvPr/>
        </p:nvPicPr>
        <p:blipFill rotWithShape="1">
          <a:blip r:embed="rId2" cstate="print"/>
          <a:srcRect l="-2143" t="-680" r="-381" b="680"/>
          <a:stretch/>
        </p:blipFill>
        <p:spPr bwMode="auto">
          <a:xfrm>
            <a:off x="6019800" y="2728913"/>
            <a:ext cx="3429000" cy="1690687"/>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3055532031"/>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5" name="Text Placeholder 4"/>
          <p:cNvSpPr>
            <a:spLocks noGrp="1"/>
          </p:cNvSpPr>
          <p:nvPr>
            <p:ph type="body" idx="1"/>
          </p:nvPr>
        </p:nvSpPr>
        <p:spPr>
          <a:xfrm>
            <a:off x="835405" y="1066800"/>
            <a:ext cx="10521188" cy="6278642"/>
          </a:xfrm>
        </p:spPr>
        <p:txBody>
          <a:bodyPr/>
          <a:lstStyle/>
          <a:p>
            <a:r>
              <a:rPr lang="en-US" b="1" dirty="0"/>
              <a:t>3.OLED:</a:t>
            </a:r>
          </a:p>
          <a:p>
            <a:endParaRPr lang="en-US" b="1" dirty="0"/>
          </a:p>
          <a:p>
            <a:r>
              <a:rPr lang="en-US" b="1" dirty="0"/>
              <a:t>OLED</a:t>
            </a:r>
            <a:r>
              <a:rPr lang="en-US" dirty="0"/>
              <a:t> stands for </a:t>
            </a:r>
            <a:r>
              <a:rPr lang="en-US" b="1" dirty="0"/>
              <a:t>Organic Light-Emitting Diode</a:t>
            </a:r>
            <a:r>
              <a:rPr lang="en-US" dirty="0"/>
              <a:t>. It’s a type of screen where each tiny dot (called a pixel) makes its own light. That means the screen doesn’t need a backlight like older displays. Because of this, OLED screens can be super </a:t>
            </a:r>
            <a:r>
              <a:rPr lang="en-US" dirty="0" err="1"/>
              <a:t>thin,bright</a:t>
            </a:r>
            <a:r>
              <a:rPr lang="en-US" dirty="0"/>
              <a:t> colors use less </a:t>
            </a:r>
            <a:r>
              <a:rPr lang="en-US" dirty="0" smtClean="0"/>
              <a:t>power</a:t>
            </a:r>
          </a:p>
          <a:p>
            <a:r>
              <a:rPr lang="en-US" b="1" dirty="0" smtClean="0"/>
              <a:t>Uses:</a:t>
            </a:r>
          </a:p>
          <a:p>
            <a:pPr lvl="0" algn="l" rtl="0" eaLnBrk="0" fontAlgn="base" hangingPunct="0">
              <a:spcBef>
                <a:spcPct val="0"/>
              </a:spcBef>
              <a:spcAft>
                <a:spcPct val="0"/>
              </a:spcAft>
              <a:buFontTx/>
              <a:buChar char="•"/>
            </a:pPr>
            <a:r>
              <a:rPr lang="en-US" dirty="0">
                <a:latin typeface="Times New Roman" panose="02020603050405020304" pitchFamily="18" charset="0"/>
                <a:cs typeface="Times New Roman" panose="02020603050405020304" pitchFamily="18" charset="0"/>
              </a:rPr>
              <a:t>Smartphones</a:t>
            </a:r>
          </a:p>
          <a:p>
            <a:pPr lvl="0" algn="l" rtl="0" eaLnBrk="0" fontAlgn="base" hangingPunct="0">
              <a:spcBef>
                <a:spcPct val="0"/>
              </a:spcBef>
              <a:spcAft>
                <a:spcPct val="0"/>
              </a:spcAft>
              <a:buFontTx/>
              <a:buChar char="•"/>
            </a:pPr>
            <a:r>
              <a:rPr lang="en-US" dirty="0" err="1" smtClean="0">
                <a:latin typeface="Times New Roman" panose="02020603050405020304" pitchFamily="18" charset="0"/>
                <a:cs typeface="Times New Roman" panose="02020603050405020304" pitchFamily="18" charset="0"/>
              </a:rPr>
              <a:t>Smartwatches</a:t>
            </a:r>
            <a:endParaRPr lang="en-US" dirty="0" smtClean="0">
              <a:latin typeface="Times New Roman" panose="02020603050405020304" pitchFamily="18" charset="0"/>
              <a:cs typeface="Times New Roman" panose="02020603050405020304" pitchFamily="18" charset="0"/>
            </a:endParaRPr>
          </a:p>
          <a:p>
            <a:r>
              <a:rPr lang="en-US" b="1" dirty="0"/>
              <a:t>4.ESP32-Microcontroller:</a:t>
            </a:r>
          </a:p>
          <a:p>
            <a:endParaRPr lang="en-US" dirty="0"/>
          </a:p>
          <a:p>
            <a:r>
              <a:rPr lang="en-US" dirty="0"/>
              <a:t>ESP32 is a low-cost, powerful microcontroller with built-in Wi-Fi and Bluetooth capabilities. It’s made by </a:t>
            </a:r>
            <a:r>
              <a:rPr lang="en-US" dirty="0" err="1"/>
              <a:t>Espressif</a:t>
            </a:r>
            <a:r>
              <a:rPr lang="en-US" dirty="0"/>
              <a:t> Systems and is widely used in </a:t>
            </a:r>
            <a:r>
              <a:rPr lang="en-US" dirty="0" err="1"/>
              <a:t>IoT</a:t>
            </a:r>
            <a:r>
              <a:rPr lang="en-US" dirty="0"/>
              <a:t> (Internet of Things) projects, smart devices, and automation systems. It has a dual-core processor, multiple input/output pins, and supports various sensors and modules</a:t>
            </a:r>
            <a:endParaRPr lang="en-US" dirty="0">
              <a:latin typeface="Times New Roman" panose="02020603050405020304" pitchFamily="18" charset="0"/>
              <a:cs typeface="Times New Roman" panose="02020603050405020304" pitchFamily="18" charset="0"/>
            </a:endParaRPr>
          </a:p>
          <a:p>
            <a:endParaRPr lang="en-US" dirty="0" smtClean="0"/>
          </a:p>
          <a:p>
            <a:endParaRPr lang="en-US" dirty="0"/>
          </a:p>
        </p:txBody>
      </p:sp>
      <p:pic>
        <p:nvPicPr>
          <p:cNvPr id="6" name="Picture 5" descr="OLED - Organic Light Emitting Diode - Newhaven Display"/>
          <p:cNvPicPr/>
          <p:nvPr/>
        </p:nvPicPr>
        <p:blipFill rotWithShape="1">
          <a:blip r:embed="rId2" cstate="print">
            <a:extLst>
              <a:ext uri="{28A0092B-C50C-407E-A947-70E740481C1C}">
                <a14:useLocalDpi xmlns:a14="http://schemas.microsoft.com/office/drawing/2010/main" val="0"/>
              </a:ext>
            </a:extLst>
          </a:blip>
          <a:srcRect l="724" t="1486" r="-362" b="-495"/>
          <a:stretch/>
        </p:blipFill>
        <p:spPr bwMode="auto">
          <a:xfrm>
            <a:off x="7162800" y="3352800"/>
            <a:ext cx="2438400" cy="1295400"/>
          </a:xfrm>
          <a:prstGeom prst="rect">
            <a:avLst/>
          </a:prstGeom>
          <a:noFill/>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3052687350"/>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71499" y="299465"/>
            <a:ext cx="10249001" cy="430887"/>
          </a:xfrm>
        </p:spPr>
        <p:txBody>
          <a:bodyPr/>
          <a:lstStyle/>
          <a:p>
            <a:r>
              <a:rPr lang="en-US" sz="2800" dirty="0" smtClean="0">
                <a:solidFill>
                  <a:schemeClr val="tx1"/>
                </a:solidFill>
              </a:rPr>
              <a:t>Working principle:</a:t>
            </a:r>
            <a:endParaRPr lang="en-IN" sz="2800" dirty="0">
              <a:solidFill>
                <a:schemeClr val="tx1"/>
              </a:solidFill>
            </a:endParaRPr>
          </a:p>
        </p:txBody>
      </p:sp>
      <p:sp>
        <p:nvSpPr>
          <p:cNvPr id="3" name="Text Placeholder 2"/>
          <p:cNvSpPr>
            <a:spLocks noGrp="1"/>
          </p:cNvSpPr>
          <p:nvPr>
            <p:ph type="body" idx="1"/>
          </p:nvPr>
        </p:nvSpPr>
        <p:spPr>
          <a:xfrm>
            <a:off x="846928" y="1219200"/>
            <a:ext cx="10349688" cy="6463308"/>
          </a:xfrm>
        </p:spPr>
        <p:txBody>
          <a:bodyPr spcCol="540000"/>
          <a:lstStyle/>
          <a:p>
            <a:pPr algn="just">
              <a:lnSpc>
                <a:spcPct val="150000"/>
              </a:lnSpc>
            </a:pPr>
            <a:r>
              <a:rPr lang="en-US" dirty="0" smtClean="0"/>
              <a:t>       A Smart Parking Management System operates by integrating sensors, communication networks, and software applications to optimize the use of parking spaces in real time. The system begins with the installation of sensors in individual parking spots, which detect the presence or absence of vehicles. These sensors transmit data to a central server via wireless communication technologies such as Wi-Fi, </a:t>
            </a:r>
            <a:r>
              <a:rPr lang="en-US" dirty="0" err="1" smtClean="0"/>
              <a:t>LoRaWAN</a:t>
            </a:r>
            <a:r>
              <a:rPr lang="en-US" dirty="0" smtClean="0"/>
              <a:t>, or cellular networks. The server processes this data and updates the availability status of each parking space.</a:t>
            </a:r>
          </a:p>
          <a:p>
            <a:pPr marL="342900" indent="-342900">
              <a:buFont typeface="Arial" panose="020B0604020202020204" pitchFamily="34" charset="0"/>
              <a:buChar char="•"/>
            </a:pPr>
            <a:r>
              <a:rPr lang="en-US" b="1" dirty="0" smtClean="0"/>
              <a:t>Automated </a:t>
            </a:r>
            <a:r>
              <a:rPr lang="en-US" b="1" dirty="0"/>
              <a:t>Payment</a:t>
            </a:r>
          </a:p>
          <a:p>
            <a:pPr>
              <a:lnSpc>
                <a:spcPct val="150000"/>
              </a:lnSpc>
            </a:pPr>
            <a:r>
              <a:rPr lang="en-US" dirty="0" smtClean="0"/>
              <a:t>       Payment </a:t>
            </a:r>
            <a:r>
              <a:rPr lang="en-US" dirty="0"/>
              <a:t>is handled digitally via the app or contactless terminals.</a:t>
            </a:r>
          </a:p>
          <a:p>
            <a:pPr>
              <a:lnSpc>
                <a:spcPct val="150000"/>
              </a:lnSpc>
            </a:pPr>
            <a:r>
              <a:rPr lang="en-US" dirty="0" smtClean="0"/>
              <a:t>  Options </a:t>
            </a:r>
            <a:r>
              <a:rPr lang="en-US" dirty="0"/>
              <a:t>include pay-per-use, subscription, or dynamic pricing based on demand.</a:t>
            </a:r>
          </a:p>
          <a:p>
            <a:pPr>
              <a:lnSpc>
                <a:spcPct val="150000"/>
              </a:lnSpc>
            </a:pPr>
            <a:endParaRPr lang="en-US" b="1" dirty="0"/>
          </a:p>
          <a:p>
            <a:pPr algn="just">
              <a:lnSpc>
                <a:spcPct val="150000"/>
              </a:lnSpc>
            </a:pPr>
            <a:endParaRPr lang="en-IN" dirty="0"/>
          </a:p>
        </p:txBody>
      </p:sp>
    </p:spTree>
    <p:extLst>
      <p:ext uri="{BB962C8B-B14F-4D97-AF65-F5344CB8AC3E}">
        <p14:creationId xmlns:p14="http://schemas.microsoft.com/office/powerpoint/2010/main" val="760649899"/>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Text Placeholder 2"/>
          <p:cNvSpPr>
            <a:spLocks noGrp="1"/>
          </p:cNvSpPr>
          <p:nvPr>
            <p:ph type="body" idx="1"/>
          </p:nvPr>
        </p:nvSpPr>
        <p:spPr>
          <a:xfrm>
            <a:off x="963538" y="1219200"/>
            <a:ext cx="10286532" cy="5410200"/>
          </a:xfrm>
        </p:spPr>
        <p:txBody>
          <a:bodyPr/>
          <a:lstStyle/>
          <a:p>
            <a:pPr marL="342900" indent="-342900">
              <a:buFont typeface="Arial" panose="020B0604020202020204" pitchFamily="34" charset="0"/>
              <a:buChar char="•"/>
            </a:pPr>
            <a:r>
              <a:rPr lang="en-US" b="1" dirty="0"/>
              <a:t>User </a:t>
            </a:r>
            <a:r>
              <a:rPr lang="en-US" b="1" dirty="0" smtClean="0"/>
              <a:t>Interaction</a:t>
            </a:r>
          </a:p>
          <a:p>
            <a:endParaRPr lang="en-US" b="1" dirty="0"/>
          </a:p>
          <a:p>
            <a:r>
              <a:rPr lang="en-US" dirty="0"/>
              <a:t>Drivers use a </a:t>
            </a:r>
            <a:r>
              <a:rPr lang="en-US" b="1" dirty="0"/>
              <a:t>smartphone app</a:t>
            </a:r>
            <a:r>
              <a:rPr lang="en-US" dirty="0"/>
              <a:t> or kiosk to:</a:t>
            </a:r>
          </a:p>
          <a:p>
            <a:pPr marL="800100" lvl="1" indent="-342900">
              <a:lnSpc>
                <a:spcPct val="150000"/>
              </a:lnSpc>
              <a:buFont typeface="Wingdings" panose="05000000000000000000" pitchFamily="2" charset="2"/>
              <a:buChar char="§"/>
            </a:pPr>
            <a:r>
              <a:rPr lang="en-US" sz="2400" dirty="0"/>
              <a:t>Search for nearby available parking</a:t>
            </a:r>
          </a:p>
          <a:p>
            <a:pPr marL="800100" lvl="1" indent="-342900">
              <a:lnSpc>
                <a:spcPct val="150000"/>
              </a:lnSpc>
              <a:buFont typeface="Wingdings" panose="05000000000000000000" pitchFamily="2" charset="2"/>
              <a:buChar char="§"/>
            </a:pPr>
            <a:r>
              <a:rPr lang="en-US" sz="2400" dirty="0"/>
              <a:t>Reserve a spot in advance</a:t>
            </a:r>
          </a:p>
          <a:p>
            <a:pPr marL="800100" lvl="1" indent="-342900">
              <a:lnSpc>
                <a:spcPct val="150000"/>
              </a:lnSpc>
              <a:buFont typeface="Wingdings" panose="05000000000000000000" pitchFamily="2" charset="2"/>
              <a:buChar char="§"/>
            </a:pPr>
            <a:r>
              <a:rPr lang="en-US" sz="2400" dirty="0"/>
              <a:t>Navigate to the location using integrated </a:t>
            </a:r>
            <a:r>
              <a:rPr lang="en-US" sz="2400" dirty="0" smtClean="0"/>
              <a:t>maps</a:t>
            </a:r>
          </a:p>
          <a:p>
            <a:pPr marL="800100" lvl="1" indent="-342900">
              <a:lnSpc>
                <a:spcPct val="150000"/>
              </a:lnSpc>
              <a:buFont typeface="Wingdings" panose="05000000000000000000" pitchFamily="2" charset="2"/>
              <a:buChar char="§"/>
            </a:pPr>
            <a:endParaRPr lang="en-US" sz="2400" dirty="0" smtClean="0"/>
          </a:p>
          <a:p>
            <a:pPr marL="342900" indent="-342900">
              <a:buFont typeface="Arial" panose="020B0604020202020204" pitchFamily="34" charset="0"/>
              <a:buChar char="•"/>
            </a:pPr>
            <a:r>
              <a:rPr lang="en-US" b="1" dirty="0"/>
              <a:t>Environmental </a:t>
            </a:r>
            <a:r>
              <a:rPr lang="en-US" b="1" dirty="0" smtClean="0"/>
              <a:t>Impact</a:t>
            </a:r>
          </a:p>
          <a:p>
            <a:endParaRPr lang="en-US" b="1" dirty="0"/>
          </a:p>
          <a:p>
            <a:pPr marL="342900" indent="-342900">
              <a:buFont typeface="Wingdings" panose="05000000000000000000" pitchFamily="2" charset="2"/>
              <a:buChar char="§"/>
            </a:pPr>
            <a:r>
              <a:rPr lang="en-US" dirty="0"/>
              <a:t>Reduces traffic congestion and fuel consumption by minimizing the time spent searching for parking</a:t>
            </a:r>
          </a:p>
          <a:p>
            <a:pPr marL="800100" lvl="1" indent="-342900">
              <a:lnSpc>
                <a:spcPct val="150000"/>
              </a:lnSpc>
              <a:buFont typeface="Wingdings" panose="05000000000000000000" pitchFamily="2" charset="2"/>
              <a:buChar char="§"/>
            </a:pPr>
            <a:endParaRPr lang="en-US" sz="2400" dirty="0"/>
          </a:p>
          <a:p>
            <a:pPr marL="342900" indent="-342900">
              <a:lnSpc>
                <a:spcPct val="150000"/>
              </a:lnSpc>
              <a:buFont typeface="Wingdings" panose="05000000000000000000" pitchFamily="2" charset="2"/>
              <a:buChar char="§"/>
            </a:pPr>
            <a:endParaRPr lang="en-US" b="1" dirty="0"/>
          </a:p>
          <a:p>
            <a:pPr marL="342900" indent="-342900">
              <a:lnSpc>
                <a:spcPct val="150000"/>
              </a:lnSpc>
              <a:buFont typeface="Wingdings" panose="05000000000000000000" pitchFamily="2" charset="2"/>
              <a:buChar char="§"/>
            </a:pPr>
            <a:endParaRPr lang="en-IN" dirty="0"/>
          </a:p>
        </p:txBody>
      </p:sp>
      <p:sp>
        <p:nvSpPr>
          <p:cNvPr id="7" name="Rectangle 3"/>
          <p:cNvSpPr>
            <a:spLocks noChangeArrowheads="1"/>
          </p:cNvSpPr>
          <p:nvPr/>
        </p:nvSpPr>
        <p:spPr bwMode="auto">
          <a:xfrm>
            <a:off x="0" y="-94566"/>
            <a:ext cx="248786"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sz="1800" b="0" i="0" u="none" strike="noStrike" cap="none" normalizeH="0" baseline="0" dirty="0" smtClean="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dirty="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85639855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53302" y="609600"/>
            <a:ext cx="10249001" cy="369332"/>
          </a:xfrm>
        </p:spPr>
        <p:txBody>
          <a:bodyPr/>
          <a:lstStyle/>
          <a:p>
            <a:r>
              <a:rPr lang="en-US" sz="2400" dirty="0" smtClean="0">
                <a:solidFill>
                  <a:schemeClr val="tx1"/>
                </a:solidFill>
              </a:rPr>
              <a:t>Advantages:</a:t>
            </a:r>
            <a:endParaRPr lang="en-IN" sz="2400" dirty="0">
              <a:solidFill>
                <a:schemeClr val="tx1"/>
              </a:solidFill>
            </a:endParaRPr>
          </a:p>
        </p:txBody>
      </p:sp>
      <p:sp>
        <p:nvSpPr>
          <p:cNvPr id="4" name="Rectangle 1"/>
          <p:cNvSpPr>
            <a:spLocks noGrp="1" noChangeArrowheads="1"/>
          </p:cNvSpPr>
          <p:nvPr>
            <p:ph type="body" idx="1"/>
          </p:nvPr>
        </p:nvSpPr>
        <p:spPr bwMode="auto">
          <a:xfrm>
            <a:off x="776415" y="1343798"/>
            <a:ext cx="10425888" cy="39703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Char char="•"/>
              <a:tabLst/>
            </a:pPr>
            <a:r>
              <a:rPr kumimoji="0" lang="en-US"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Smart parking</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Real-time parking data</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Automated parking system</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Parking reservation</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Mobile parking app</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Cloud-based parking</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Vehicle detection</a:t>
            </a:r>
          </a:p>
        </p:txBody>
      </p:sp>
    </p:spTree>
    <p:extLst>
      <p:ext uri="{BB962C8B-B14F-4D97-AF65-F5344CB8AC3E}">
        <p14:creationId xmlns:p14="http://schemas.microsoft.com/office/powerpoint/2010/main" val="392856331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71499" y="299464"/>
            <a:ext cx="10249001" cy="691135"/>
          </a:xfrm>
        </p:spPr>
        <p:txBody>
          <a:bodyPr/>
          <a:lstStyle/>
          <a:p>
            <a:r>
              <a:rPr lang="en-US" sz="2400" dirty="0" smtClean="0">
                <a:solidFill>
                  <a:schemeClr val="tx1"/>
                </a:solidFill>
              </a:rPr>
              <a:t>Applications:</a:t>
            </a:r>
            <a:endParaRPr lang="en-IN" sz="2400" dirty="0">
              <a:solidFill>
                <a:schemeClr val="tx1"/>
              </a:solidFill>
            </a:endParaRPr>
          </a:p>
        </p:txBody>
      </p:sp>
      <p:sp>
        <p:nvSpPr>
          <p:cNvPr id="4" name="Rectangle 1"/>
          <p:cNvSpPr>
            <a:spLocks noGrp="1" noChangeArrowheads="1"/>
          </p:cNvSpPr>
          <p:nvPr>
            <p:ph type="body" idx="1"/>
          </p:nvPr>
        </p:nvSpPr>
        <p:spPr bwMode="auto">
          <a:xfrm>
            <a:off x="685800" y="1005384"/>
            <a:ext cx="3355406" cy="44579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Char char="•"/>
              <a:tabLst/>
            </a:pPr>
            <a:r>
              <a:rPr kumimoji="0" lang="en-US"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GPS tracking</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Cloud computing</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Mobile app integration</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Real-time data</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Wireless communication</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Automated systems</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Smart meters</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Data analytics</a:t>
            </a:r>
          </a:p>
        </p:txBody>
      </p:sp>
    </p:spTree>
    <p:extLst>
      <p:ext uri="{BB962C8B-B14F-4D97-AF65-F5344CB8AC3E}">
        <p14:creationId xmlns:p14="http://schemas.microsoft.com/office/powerpoint/2010/main" val="331054635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71499" y="313112"/>
            <a:ext cx="10249001" cy="369332"/>
          </a:xfrm>
        </p:spPr>
        <p:txBody>
          <a:bodyPr/>
          <a:lstStyle/>
          <a:p>
            <a:r>
              <a:rPr lang="en-US" sz="2400" dirty="0" smtClean="0">
                <a:solidFill>
                  <a:schemeClr val="tx1"/>
                </a:solidFill>
              </a:rPr>
              <a:t>Future Scope:</a:t>
            </a:r>
            <a:endParaRPr lang="en-IN" sz="2400" dirty="0">
              <a:solidFill>
                <a:schemeClr val="tx1"/>
              </a:solidFill>
            </a:endParaRPr>
          </a:p>
        </p:txBody>
      </p:sp>
      <p:sp>
        <p:nvSpPr>
          <p:cNvPr id="3" name="Text Placeholder 2"/>
          <p:cNvSpPr>
            <a:spLocks noGrp="1"/>
          </p:cNvSpPr>
          <p:nvPr>
            <p:ph type="body" idx="1"/>
          </p:nvPr>
        </p:nvSpPr>
        <p:spPr>
          <a:xfrm>
            <a:off x="609600" y="862500"/>
            <a:ext cx="10744200" cy="8863965"/>
          </a:xfrm>
        </p:spPr>
        <p:txBody>
          <a:bodyPr/>
          <a:lstStyle/>
          <a:p>
            <a:pPr marL="342900" indent="-342900" algn="just">
              <a:lnSpc>
                <a:spcPct val="150000"/>
              </a:lnSpc>
              <a:buFont typeface="Arial" panose="020B0604020202020204" pitchFamily="34" charset="0"/>
              <a:buChar char="•"/>
            </a:pPr>
            <a:r>
              <a:rPr lang="en-US" b="1" dirty="0"/>
              <a:t>Work with Smart Cities</a:t>
            </a:r>
            <a:r>
              <a:rPr lang="en-US" dirty="0"/>
              <a:t>: It will connect with traffic lights, buses, and trains to make travel smoother</a:t>
            </a:r>
            <a:r>
              <a:rPr lang="en-US" dirty="0" smtClean="0"/>
              <a:t>.</a:t>
            </a:r>
          </a:p>
          <a:p>
            <a:pPr marL="342900" lvl="0" indent="-342900" algn="just" rtl="0">
              <a:lnSpc>
                <a:spcPct val="150000"/>
              </a:lnSpc>
              <a:buFont typeface="Arial" panose="020B0604020202020204" pitchFamily="34" charset="0"/>
              <a:buChar char="•"/>
            </a:pPr>
            <a:r>
              <a:rPr lang="en-US" b="1" dirty="0">
                <a:latin typeface="Arial" panose="020B0604020202020204" pitchFamily="34" charset="0"/>
              </a:rPr>
              <a:t>Help Self-Driving Cars</a:t>
            </a:r>
            <a:r>
              <a:rPr lang="en-US" dirty="0">
                <a:latin typeface="Arial" panose="020B0604020202020204" pitchFamily="34" charset="0"/>
              </a:rPr>
              <a:t>: Smart parking will guide driverless cars to park themselves safely</a:t>
            </a:r>
            <a:r>
              <a:rPr lang="en-US" dirty="0" smtClean="0">
                <a:latin typeface="Arial" panose="020B0604020202020204" pitchFamily="34" charset="0"/>
              </a:rPr>
              <a:t>.</a:t>
            </a:r>
          </a:p>
          <a:p>
            <a:pPr marL="342900" indent="-342900" algn="just">
              <a:lnSpc>
                <a:spcPct val="150000"/>
              </a:lnSpc>
              <a:buFont typeface="Arial" panose="020B0604020202020204" pitchFamily="34" charset="0"/>
              <a:buChar char="•"/>
            </a:pPr>
            <a:r>
              <a:rPr lang="en-US" b="1" dirty="0"/>
              <a:t>Car-to-Parking Communication</a:t>
            </a:r>
          </a:p>
          <a:p>
            <a:pPr algn="just">
              <a:lnSpc>
                <a:spcPct val="150000"/>
              </a:lnSpc>
            </a:pPr>
            <a:r>
              <a:rPr lang="en-US" dirty="0" smtClean="0"/>
              <a:t>     Your </a:t>
            </a:r>
            <a:r>
              <a:rPr lang="en-US" dirty="0"/>
              <a:t>car will talk directly to parking systems to find and reserve </a:t>
            </a:r>
            <a:r>
              <a:rPr lang="en-US" dirty="0" smtClean="0"/>
              <a:t>a</a:t>
            </a:r>
          </a:p>
          <a:p>
            <a:pPr algn="just">
              <a:lnSpc>
                <a:spcPct val="150000"/>
              </a:lnSpc>
            </a:pPr>
            <a:r>
              <a:rPr lang="en-US" dirty="0"/>
              <a:t> </a:t>
            </a:r>
            <a:r>
              <a:rPr lang="en-US" dirty="0" smtClean="0"/>
              <a:t>     </a:t>
            </a:r>
            <a:r>
              <a:rPr lang="en-US" dirty="0"/>
              <a:t>spot </a:t>
            </a:r>
            <a:r>
              <a:rPr lang="en-US" dirty="0" smtClean="0"/>
              <a:t>  automatically.</a:t>
            </a:r>
          </a:p>
          <a:p>
            <a:pPr marL="342900" indent="-342900" algn="just">
              <a:lnSpc>
                <a:spcPct val="150000"/>
              </a:lnSpc>
              <a:buFont typeface="Arial" panose="020B0604020202020204" pitchFamily="34" charset="0"/>
              <a:buChar char="•"/>
            </a:pPr>
            <a:r>
              <a:rPr lang="en-US" dirty="0"/>
              <a:t> </a:t>
            </a:r>
            <a:r>
              <a:rPr lang="en-IN" b="1" dirty="0"/>
              <a:t>Global Parking </a:t>
            </a:r>
            <a:r>
              <a:rPr lang="en-IN" b="1" dirty="0" smtClean="0"/>
              <a:t>Networks</a:t>
            </a:r>
          </a:p>
          <a:p>
            <a:pPr marL="342900" indent="-342900" algn="just">
              <a:lnSpc>
                <a:spcPct val="150000"/>
              </a:lnSpc>
              <a:buFont typeface="Wingdings" panose="05000000000000000000" pitchFamily="2" charset="2"/>
              <a:buChar char="§"/>
            </a:pPr>
            <a:r>
              <a:rPr lang="en-US" dirty="0"/>
              <a:t>You’ll use one app to find </a:t>
            </a:r>
            <a:r>
              <a:rPr lang="en-US" dirty="0" smtClean="0"/>
              <a:t>parking </a:t>
            </a:r>
            <a:r>
              <a:rPr lang="en-US" dirty="0"/>
              <a:t>in any city or country.</a:t>
            </a:r>
          </a:p>
          <a:p>
            <a:pPr marL="342900" indent="-342900" algn="just">
              <a:lnSpc>
                <a:spcPct val="150000"/>
              </a:lnSpc>
              <a:buFont typeface="Wingdings" panose="05000000000000000000" pitchFamily="2" charset="2"/>
              <a:buChar char="§"/>
            </a:pPr>
            <a:r>
              <a:rPr lang="en-US" dirty="0"/>
              <a:t>No need to download different apps when you travel.</a:t>
            </a:r>
          </a:p>
          <a:p>
            <a:pPr marL="342900" indent="-342900" algn="just">
              <a:lnSpc>
                <a:spcPct val="150000"/>
              </a:lnSpc>
              <a:buFont typeface="Wingdings" panose="05000000000000000000" pitchFamily="2" charset="2"/>
              <a:buChar char="§"/>
            </a:pPr>
            <a:endParaRPr lang="en-IN" b="1" dirty="0"/>
          </a:p>
          <a:p>
            <a:pPr algn="just">
              <a:lnSpc>
                <a:spcPct val="150000"/>
              </a:lnSpc>
            </a:pPr>
            <a:endParaRPr lang="en-US" dirty="0"/>
          </a:p>
          <a:p>
            <a:pPr marL="342900" lvl="0" indent="-342900" algn="just" rtl="0">
              <a:lnSpc>
                <a:spcPct val="150000"/>
              </a:lnSpc>
              <a:buFont typeface="Arial" panose="020B0604020202020204" pitchFamily="34" charset="0"/>
              <a:buChar char="•"/>
            </a:pPr>
            <a:endParaRPr lang="en-US" dirty="0">
              <a:latin typeface="Arial" panose="020B0604020202020204" pitchFamily="34" charset="0"/>
            </a:endParaRPr>
          </a:p>
          <a:p>
            <a:pPr marL="342900" indent="-342900" algn="just">
              <a:lnSpc>
                <a:spcPct val="150000"/>
              </a:lnSpc>
              <a:buFont typeface="Arial" panose="020B0604020202020204" pitchFamily="34" charset="0"/>
              <a:buChar char="•"/>
            </a:pPr>
            <a:endParaRPr lang="en-US" dirty="0" smtClean="0"/>
          </a:p>
          <a:p>
            <a:pPr marL="342900" indent="-342900" algn="just">
              <a:lnSpc>
                <a:spcPct val="150000"/>
              </a:lnSpc>
              <a:buFont typeface="Arial" panose="020B0604020202020204" pitchFamily="34" charset="0"/>
              <a:buChar char="•"/>
            </a:pPr>
            <a:endParaRPr lang="en-US" dirty="0" smtClean="0"/>
          </a:p>
          <a:p>
            <a:pPr marL="342900" indent="-342900" algn="just">
              <a:lnSpc>
                <a:spcPct val="150000"/>
              </a:lnSpc>
              <a:buFont typeface="Arial" panose="020B0604020202020204" pitchFamily="34" charset="0"/>
              <a:buChar char="•"/>
            </a:pPr>
            <a:endParaRPr lang="en-IN" dirty="0"/>
          </a:p>
        </p:txBody>
      </p:sp>
    </p:spTree>
    <p:extLst>
      <p:ext uri="{BB962C8B-B14F-4D97-AF65-F5344CB8AC3E}">
        <p14:creationId xmlns:p14="http://schemas.microsoft.com/office/powerpoint/2010/main" val="239766731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71499" y="299465"/>
            <a:ext cx="10249001" cy="492443"/>
          </a:xfrm>
        </p:spPr>
        <p:txBody>
          <a:bodyPr/>
          <a:lstStyle/>
          <a:p>
            <a:r>
              <a:rPr lang="en-US" dirty="0" err="1" smtClean="0">
                <a:solidFill>
                  <a:schemeClr val="tx1"/>
                </a:solidFill>
              </a:rPr>
              <a:t>Conclution</a:t>
            </a:r>
            <a:endParaRPr lang="en-IN" dirty="0">
              <a:solidFill>
                <a:schemeClr val="tx1"/>
              </a:solidFill>
            </a:endParaRPr>
          </a:p>
        </p:txBody>
      </p:sp>
      <p:sp>
        <p:nvSpPr>
          <p:cNvPr id="3" name="Text Placeholder 2"/>
          <p:cNvSpPr>
            <a:spLocks noGrp="1"/>
          </p:cNvSpPr>
          <p:nvPr>
            <p:ph type="body" idx="1"/>
          </p:nvPr>
        </p:nvSpPr>
        <p:spPr>
          <a:xfrm>
            <a:off x="699312" y="1120902"/>
            <a:ext cx="10521188" cy="3257623"/>
          </a:xfrm>
        </p:spPr>
        <p:txBody>
          <a:bodyPr/>
          <a:lstStyle/>
          <a:p>
            <a:pPr algn="just">
              <a:lnSpc>
                <a:spcPct val="150000"/>
              </a:lnSpc>
            </a:pPr>
            <a:r>
              <a:rPr lang="en-US" dirty="0"/>
              <a:t>Smart Parking Management Systems make parking faster, easier, and smarter. They help drivers find empty spots quickly, save time and fuel, and reduce traffic jams. With mobile apps and sensors, everything becomes automatic—from finding a space to paying for it. In the future, smart parking will work with self-driving cars, electric vehicles, and smart cities to make life even better. It's a smart solution for busy places and a cleaner, safer future.</a:t>
            </a:r>
          </a:p>
        </p:txBody>
      </p:sp>
    </p:spTree>
    <p:extLst>
      <p:ext uri="{BB962C8B-B14F-4D97-AF65-F5344CB8AC3E}">
        <p14:creationId xmlns:p14="http://schemas.microsoft.com/office/powerpoint/2010/main" val="113101241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dirty="0"/>
          </a:p>
        </p:txBody>
      </p:sp>
      <p:sp>
        <p:nvSpPr>
          <p:cNvPr id="6" name="AutoShape 6" descr="Thank you Images - Free Download on Freepik"/>
          <p:cNvSpPr>
            <a:spLocks noGrp="1" noChangeAspect="1" noChangeArrowheads="1"/>
          </p:cNvSpPr>
          <p:nvPr>
            <p:ph type="body" idx="1"/>
          </p:nvPr>
        </p:nvSpPr>
        <p:spPr bwMode="auto">
          <a:xfrm>
            <a:off x="971500" y="965579"/>
            <a:ext cx="10241040" cy="589242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dirty="0"/>
          </a:p>
        </p:txBody>
      </p:sp>
      <p:pic>
        <p:nvPicPr>
          <p:cNvPr id="1032" name="Picture 8" descr="Thank you Images - Free Download on Freepik"/>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05000" y="1447800"/>
            <a:ext cx="6931025" cy="4267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1230719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175</TotalTime>
  <Words>888</Words>
  <Application>Microsoft Office PowerPoint</Application>
  <PresentationFormat>Widescreen</PresentationFormat>
  <Paragraphs>128</Paragraphs>
  <Slides>14</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Arial</vt:lpstr>
      <vt:lpstr>Calibri</vt:lpstr>
      <vt:lpstr>Tahoma</vt:lpstr>
      <vt:lpstr>Times New Roman</vt:lpstr>
      <vt:lpstr>Wingdings</vt:lpstr>
      <vt:lpstr>Office Theme</vt:lpstr>
      <vt:lpstr>PowerPoint Presentation</vt:lpstr>
      <vt:lpstr>               Abstract:</vt:lpstr>
      <vt:lpstr>                                   Introduction:</vt:lpstr>
      <vt:lpstr>BLOCK DIAGRAM:</vt:lpstr>
      <vt:lpstr>MAJOR COMPONENTS:</vt:lpstr>
      <vt:lpstr>PowerPoint Presentation</vt:lpstr>
      <vt:lpstr>PowerPoint Presentation</vt:lpstr>
      <vt:lpstr>Working principle:</vt:lpstr>
      <vt:lpstr>PowerPoint Presentation</vt:lpstr>
      <vt:lpstr>Advantages:</vt:lpstr>
      <vt:lpstr>Applications:</vt:lpstr>
      <vt:lpstr>Future Scope:</vt:lpstr>
      <vt:lpstr>Conclution</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HI ANU</dc:creator>
  <cp:lastModifiedBy>Dell</cp:lastModifiedBy>
  <cp:revision>18</cp:revision>
  <dcterms:created xsi:type="dcterms:W3CDTF">2025-10-10T04:48:54Z</dcterms:created>
  <dcterms:modified xsi:type="dcterms:W3CDTF">2025-10-17T04:44:23Z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2025-01-30T00:00:00Z</vt:filetime>
  </property>
  <property fmtid="{D5CDD505-2E9C-101B-9397-08002B2CF9AE}" pid="3" name="Creator">
    <vt:lpwstr>Microsoft® PowerPoint® 2021</vt:lpwstr>
  </property>
  <property fmtid="{D5CDD505-2E9C-101B-9397-08002B2CF9AE}" pid="4" name="LastSaved">
    <vt:filetime>2025-10-10T00:00:00Z</vt:filetime>
  </property>
  <property fmtid="{D5CDD505-2E9C-101B-9397-08002B2CF9AE}" pid="5" name="Producer">
    <vt:lpwstr>Microsoft® PowerPoint® 2021; modified using OpenPDF UNKNOWN</vt:lpwstr>
  </property>
</Properties>
</file>